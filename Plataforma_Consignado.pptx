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61" d="100"/>
          <a:sy n="61" d="100"/>
        </p:scale>
        <p:origin x="710" y="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006E9C-B815-460C-A215-94E6C67EB7F9}" type="datetimeFigureOut">
              <a:rPr lang="pt-BR" smtClean="0"/>
              <a:t>08/05/2026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A3CDF32-2FDC-4C31-8F42-E796414BFF28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11917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93237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6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10" Type="http://schemas.openxmlformats.org/officeDocument/2006/relationships/image" Target="../media/image26.png"/><Relationship Id="rId4" Type="http://schemas.openxmlformats.org/officeDocument/2006/relationships/image" Target="../media/image22.png"/><Relationship Id="rId9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9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0.png"/><Relationship Id="rId4" Type="http://schemas.openxmlformats.org/officeDocument/2006/relationships/image" Target="../media/image2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3.png"/><Relationship Id="rId4" Type="http://schemas.openxmlformats.org/officeDocument/2006/relationships/image" Target="../media/image14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7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0.png"/><Relationship Id="rId5" Type="http://schemas.openxmlformats.org/officeDocument/2006/relationships/image" Target="../media/image25.png"/><Relationship Id="rId4" Type="http://schemas.openxmlformats.org/officeDocument/2006/relationships/image" Target="../media/image26.png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4622"/>
          <a:stretch/>
        </p:blipFill>
        <p:spPr>
          <a:xfrm>
            <a:off x="0" y="38100"/>
            <a:ext cx="16256000" cy="86487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2941"/>
          <a:stretch/>
        </p:blipFill>
        <p:spPr>
          <a:xfrm>
            <a:off x="0" y="38100"/>
            <a:ext cx="16256000" cy="88011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-1183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 rotWithShape="1">
          <a:blip r:embed="rId2"/>
          <a:srcRect b="3781"/>
          <a:stretch/>
        </p:blipFill>
        <p:spPr>
          <a:xfrm>
            <a:off x="0" y="38100"/>
            <a:ext cx="16256000" cy="87249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21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kern="0" spc="4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67" dirty="0"/>
          </a:p>
        </p:txBody>
      </p:sp>
      <p:sp>
        <p:nvSpPr>
          <p:cNvPr id="3" name="Text 1"/>
          <p:cNvSpPr/>
          <p:nvPr/>
        </p:nvSpPr>
        <p:spPr>
          <a:xfrm>
            <a:off x="609600" y="1036320"/>
            <a:ext cx="1463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3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Benefícios para a Rede</a:t>
            </a:r>
            <a:endParaRPr lang="en-US" sz="5333" dirty="0"/>
          </a:p>
        </p:txBody>
      </p:sp>
      <p:sp>
        <p:nvSpPr>
          <p:cNvPr id="4" name="Text 2"/>
          <p:cNvSpPr/>
          <p:nvPr/>
        </p:nvSpPr>
        <p:spPr>
          <a:xfrm>
            <a:off x="609600" y="213360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muda, na prática, para a indústria, o varejo e o consumidor final.</a:t>
            </a:r>
            <a:endParaRPr lang="en-US" sz="2133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4876800" cy="225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926080"/>
            <a:ext cx="4876800" cy="9753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158240" y="3352800"/>
            <a:ext cx="853440" cy="85344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41120" y="3535680"/>
            <a:ext cx="487680" cy="48768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2194560" y="3352800"/>
            <a:ext cx="3291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Menos perdas</a:t>
            </a:r>
            <a:endParaRPr lang="en-US" sz="2267" dirty="0"/>
          </a:p>
        </p:txBody>
      </p:sp>
      <p:sp>
        <p:nvSpPr>
          <p:cNvPr id="10" name="Text 7"/>
          <p:cNvSpPr/>
          <p:nvPr/>
        </p:nvSpPr>
        <p:spPr>
          <a:xfrm>
            <a:off x="1158240" y="4206240"/>
            <a:ext cx="4145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Avarias registradas no momento em que ocorrem — nada se perde no processo.</a:t>
            </a:r>
            <a:endParaRPr lang="en-US" sz="1600" dirty="0"/>
          </a:p>
        </p:txBody>
      </p:sp>
      <p:sp>
        <p:nvSpPr>
          <p:cNvPr id="11" name="Shape 8"/>
          <p:cNvSpPr/>
          <p:nvPr/>
        </p:nvSpPr>
        <p:spPr>
          <a:xfrm>
            <a:off x="5791200" y="2926080"/>
            <a:ext cx="4876800" cy="225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791200" y="2926080"/>
            <a:ext cx="4876800" cy="9753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6217920" y="3352800"/>
            <a:ext cx="853440" cy="85344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3535680"/>
            <a:ext cx="487680" cy="48768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7254240" y="3352800"/>
            <a:ext cx="3291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Trocas rastreadas</a:t>
            </a:r>
            <a:endParaRPr lang="en-US" sz="2267" dirty="0"/>
          </a:p>
        </p:txBody>
      </p:sp>
      <p:sp>
        <p:nvSpPr>
          <p:cNvPr id="16" name="Text 12"/>
          <p:cNvSpPr/>
          <p:nvPr/>
        </p:nvSpPr>
        <p:spPr>
          <a:xfrm>
            <a:off x="6217920" y="4206240"/>
            <a:ext cx="4145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 de cada troca, com produto, motivo e responsável.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10850880" y="2926080"/>
            <a:ext cx="4876800" cy="225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10850880" y="2926080"/>
            <a:ext cx="4876800" cy="9753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277600" y="3352800"/>
            <a:ext cx="853440" cy="85344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460480" y="3535680"/>
            <a:ext cx="487680" cy="48768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2313920" y="3352800"/>
            <a:ext cx="3291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Pedidos organizados</a:t>
            </a:r>
            <a:endParaRPr lang="en-US" sz="2267" dirty="0"/>
          </a:p>
        </p:txBody>
      </p:sp>
      <p:sp>
        <p:nvSpPr>
          <p:cNvPr id="22" name="Text 17"/>
          <p:cNvSpPr/>
          <p:nvPr/>
        </p:nvSpPr>
        <p:spPr>
          <a:xfrm>
            <a:off x="11277600" y="4206240"/>
            <a:ext cx="4145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Tudo agrupado por loja e por promotor — visão clara de demanda.</a:t>
            </a:r>
            <a:endParaRPr lang="en-US" sz="1600" dirty="0"/>
          </a:p>
        </p:txBody>
      </p:sp>
      <p:sp>
        <p:nvSpPr>
          <p:cNvPr id="23" name="Shape 18"/>
          <p:cNvSpPr/>
          <p:nvPr/>
        </p:nvSpPr>
        <p:spPr>
          <a:xfrm>
            <a:off x="731520" y="5401056"/>
            <a:ext cx="4876800" cy="225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731520" y="5401056"/>
            <a:ext cx="4876800" cy="9753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58240" y="5827776"/>
            <a:ext cx="853440" cy="85344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2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41120" y="6010656"/>
            <a:ext cx="487680" cy="48768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2194560" y="5827776"/>
            <a:ext cx="3291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pronta</a:t>
            </a:r>
            <a:endParaRPr lang="en-US" sz="2267" dirty="0"/>
          </a:p>
        </p:txBody>
      </p:sp>
      <p:sp>
        <p:nvSpPr>
          <p:cNvPr id="28" name="Text 22"/>
          <p:cNvSpPr/>
          <p:nvPr/>
        </p:nvSpPr>
        <p:spPr>
          <a:xfrm>
            <a:off x="1158240" y="6681216"/>
            <a:ext cx="4145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Relatórios exportáveis a qualquer momento, prontos para fechamento.</a:t>
            </a:r>
            <a:endParaRPr lang="en-US" sz="1600" dirty="0"/>
          </a:p>
        </p:txBody>
      </p:sp>
      <p:sp>
        <p:nvSpPr>
          <p:cNvPr id="29" name="Shape 23"/>
          <p:cNvSpPr/>
          <p:nvPr/>
        </p:nvSpPr>
        <p:spPr>
          <a:xfrm>
            <a:off x="5791200" y="5401056"/>
            <a:ext cx="4876800" cy="225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0" name="Shape 24"/>
          <p:cNvSpPr/>
          <p:nvPr/>
        </p:nvSpPr>
        <p:spPr>
          <a:xfrm>
            <a:off x="5791200" y="5401056"/>
            <a:ext cx="4876800" cy="9753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1" name="Shape 25"/>
          <p:cNvSpPr/>
          <p:nvPr/>
        </p:nvSpPr>
        <p:spPr>
          <a:xfrm>
            <a:off x="6217920" y="5827776"/>
            <a:ext cx="853440" cy="85344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0" y="6010656"/>
            <a:ext cx="487680" cy="487680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7254240" y="5827776"/>
            <a:ext cx="3291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Multi-dispositivo</a:t>
            </a:r>
            <a:endParaRPr lang="en-US" sz="2267" dirty="0"/>
          </a:p>
        </p:txBody>
      </p:sp>
      <p:sp>
        <p:nvSpPr>
          <p:cNvPr id="34" name="Text 27"/>
          <p:cNvSpPr/>
          <p:nvPr/>
        </p:nvSpPr>
        <p:spPr>
          <a:xfrm>
            <a:off x="6217920" y="6681216"/>
            <a:ext cx="4145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 no celular, tablet ou PC — sem instalação ou app.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10850880" y="5401056"/>
            <a:ext cx="4876800" cy="2255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6" name="Shape 29"/>
          <p:cNvSpPr/>
          <p:nvPr/>
        </p:nvSpPr>
        <p:spPr>
          <a:xfrm>
            <a:off x="10850880" y="5401056"/>
            <a:ext cx="4876800" cy="9753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11277600" y="5827776"/>
            <a:ext cx="853440" cy="85344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460480" y="6010656"/>
            <a:ext cx="487680" cy="487680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12313920" y="5827776"/>
            <a:ext cx="329184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2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Suporte dedicado</a:t>
            </a:r>
            <a:endParaRPr lang="en-US" sz="2267" dirty="0"/>
          </a:p>
        </p:txBody>
      </p:sp>
      <p:sp>
        <p:nvSpPr>
          <p:cNvPr id="40" name="Text 32"/>
          <p:cNvSpPr/>
          <p:nvPr/>
        </p:nvSpPr>
        <p:spPr>
          <a:xfrm>
            <a:off x="11277600" y="6681216"/>
            <a:ext cx="414528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Industria24h acompanhando ativação e operação.</a:t>
            </a:r>
            <a:endParaRPr lang="en-US" sz="1600" dirty="0"/>
          </a:p>
        </p:txBody>
      </p:sp>
      <p:sp>
        <p:nvSpPr>
          <p:cNvPr id="41" name="Shape 33"/>
          <p:cNvSpPr/>
          <p:nvPr/>
        </p:nvSpPr>
        <p:spPr>
          <a:xfrm>
            <a:off x="731520" y="7924800"/>
            <a:ext cx="14752320" cy="5486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42" name="Text 34"/>
          <p:cNvSpPr/>
          <p:nvPr/>
        </p:nvSpPr>
        <p:spPr>
          <a:xfrm>
            <a:off x="731520" y="7924800"/>
            <a:ext cx="14752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kern="0" spc="267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RESULTADO  →  operação consignado mais lucrativa, transparente e auditável.</a:t>
            </a:r>
            <a:endParaRPr lang="en-US" sz="1733" dirty="0"/>
          </a:p>
        </p:txBody>
      </p:sp>
      <p:sp>
        <p:nvSpPr>
          <p:cNvPr id="43" name="Shape 35"/>
          <p:cNvSpPr/>
          <p:nvPr/>
        </p:nvSpPr>
        <p:spPr>
          <a:xfrm>
            <a:off x="0" y="9083040"/>
            <a:ext cx="16215360" cy="6096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4" name="Text 36"/>
          <p:cNvSpPr/>
          <p:nvPr/>
        </p:nvSpPr>
        <p:spPr>
          <a:xfrm>
            <a:off x="609600" y="86319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industria24h.com.br/consignado</a:t>
            </a:r>
            <a:endParaRPr lang="en-US" sz="1333" dirty="0"/>
          </a:p>
        </p:txBody>
      </p:sp>
      <p:sp>
        <p:nvSpPr>
          <p:cNvPr id="45" name="Text 37"/>
          <p:cNvSpPr/>
          <p:nvPr/>
        </p:nvSpPr>
        <p:spPr>
          <a:xfrm>
            <a:off x="14386560" y="863193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20</a:t>
            </a:r>
            <a:endParaRPr lang="en-US" sz="1333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21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kern="0" spc="4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867" dirty="0"/>
          </a:p>
        </p:txBody>
      </p:sp>
      <p:sp>
        <p:nvSpPr>
          <p:cNvPr id="3" name="Text 1"/>
          <p:cNvSpPr/>
          <p:nvPr/>
        </p:nvSpPr>
        <p:spPr>
          <a:xfrm>
            <a:off x="609600" y="1036320"/>
            <a:ext cx="1463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3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Equipe de Promotores</a:t>
            </a:r>
            <a:endParaRPr lang="en-US" sz="5333" dirty="0"/>
          </a:p>
        </p:txBody>
      </p:sp>
      <p:sp>
        <p:nvSpPr>
          <p:cNvPr id="4" name="Text 2"/>
          <p:cNvSpPr/>
          <p:nvPr/>
        </p:nvSpPr>
        <p:spPr>
          <a:xfrm>
            <a:off x="609600" y="213360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profissionais que dão vida à plataforma todos os dias, em campo.</a:t>
            </a:r>
            <a:endParaRPr lang="en-US" sz="2133" dirty="0"/>
          </a:p>
        </p:txBody>
      </p:sp>
      <p:sp>
        <p:nvSpPr>
          <p:cNvPr id="5" name="Shape 3"/>
          <p:cNvSpPr/>
          <p:nvPr/>
        </p:nvSpPr>
        <p:spPr>
          <a:xfrm>
            <a:off x="731520" y="2987040"/>
            <a:ext cx="2682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5360" y="3230880"/>
            <a:ext cx="975360" cy="97536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5360" y="3230880"/>
            <a:ext cx="975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</a:t>
            </a:r>
            <a:endParaRPr lang="en-US" sz="2933" dirty="0"/>
          </a:p>
        </p:txBody>
      </p:sp>
      <p:sp>
        <p:nvSpPr>
          <p:cNvPr id="8" name="Text 6"/>
          <p:cNvSpPr/>
          <p:nvPr/>
        </p:nvSpPr>
        <p:spPr>
          <a:xfrm>
            <a:off x="2072640" y="335280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Karla Nunes</a:t>
            </a:r>
            <a:endParaRPr lang="en-US" sz="1867" dirty="0"/>
          </a:p>
        </p:txBody>
      </p:sp>
      <p:sp>
        <p:nvSpPr>
          <p:cNvPr id="9" name="Text 7"/>
          <p:cNvSpPr/>
          <p:nvPr/>
        </p:nvSpPr>
        <p:spPr>
          <a:xfrm>
            <a:off x="2072640" y="377952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Promotor(a)</a:t>
            </a:r>
            <a:endParaRPr lang="en-US" sz="1333" dirty="0"/>
          </a:p>
        </p:txBody>
      </p:sp>
      <p:sp>
        <p:nvSpPr>
          <p:cNvPr id="10" name="Shape 8"/>
          <p:cNvSpPr/>
          <p:nvPr/>
        </p:nvSpPr>
        <p:spPr>
          <a:xfrm>
            <a:off x="3560064" y="2987040"/>
            <a:ext cx="2682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03904" y="3230880"/>
            <a:ext cx="975360" cy="97536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03904" y="3230880"/>
            <a:ext cx="975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</a:t>
            </a:r>
            <a:endParaRPr lang="en-US" sz="2933" dirty="0"/>
          </a:p>
        </p:txBody>
      </p:sp>
      <p:sp>
        <p:nvSpPr>
          <p:cNvPr id="13" name="Text 11"/>
          <p:cNvSpPr/>
          <p:nvPr/>
        </p:nvSpPr>
        <p:spPr>
          <a:xfrm>
            <a:off x="4901184" y="335280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Rosineide</a:t>
            </a:r>
            <a:endParaRPr lang="en-US" sz="1867" dirty="0"/>
          </a:p>
        </p:txBody>
      </p:sp>
      <p:sp>
        <p:nvSpPr>
          <p:cNvPr id="14" name="Text 12"/>
          <p:cNvSpPr/>
          <p:nvPr/>
        </p:nvSpPr>
        <p:spPr>
          <a:xfrm>
            <a:off x="4901184" y="377952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Promotor(a)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6388608" y="2987040"/>
            <a:ext cx="2682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32448" y="3230880"/>
            <a:ext cx="975360" cy="97536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632448" y="3230880"/>
            <a:ext cx="975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</a:t>
            </a:r>
            <a:endParaRPr lang="en-US" sz="2933" dirty="0"/>
          </a:p>
        </p:txBody>
      </p:sp>
      <p:sp>
        <p:nvSpPr>
          <p:cNvPr id="18" name="Text 16"/>
          <p:cNvSpPr/>
          <p:nvPr/>
        </p:nvSpPr>
        <p:spPr>
          <a:xfrm>
            <a:off x="7729728" y="335280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Andrew Barbosa</a:t>
            </a:r>
            <a:endParaRPr lang="en-US" sz="1867" dirty="0"/>
          </a:p>
        </p:txBody>
      </p:sp>
      <p:sp>
        <p:nvSpPr>
          <p:cNvPr id="19" name="Text 17"/>
          <p:cNvSpPr/>
          <p:nvPr/>
        </p:nvSpPr>
        <p:spPr>
          <a:xfrm>
            <a:off x="7729728" y="377952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Promotor(a)</a:t>
            </a:r>
            <a:endParaRPr lang="en-US" sz="1333" dirty="0"/>
          </a:p>
        </p:txBody>
      </p:sp>
      <p:sp>
        <p:nvSpPr>
          <p:cNvPr id="20" name="Shape 18"/>
          <p:cNvSpPr/>
          <p:nvPr/>
        </p:nvSpPr>
        <p:spPr>
          <a:xfrm>
            <a:off x="731520" y="4632960"/>
            <a:ext cx="2682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75360" y="4876800"/>
            <a:ext cx="975360" cy="97536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75360" y="4876800"/>
            <a:ext cx="975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</a:t>
            </a:r>
            <a:endParaRPr lang="en-US" sz="2933" dirty="0"/>
          </a:p>
        </p:txBody>
      </p:sp>
      <p:sp>
        <p:nvSpPr>
          <p:cNvPr id="23" name="Text 21"/>
          <p:cNvSpPr/>
          <p:nvPr/>
        </p:nvSpPr>
        <p:spPr>
          <a:xfrm>
            <a:off x="2072640" y="499872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Raylan</a:t>
            </a:r>
            <a:endParaRPr lang="en-US" sz="1867" dirty="0"/>
          </a:p>
        </p:txBody>
      </p:sp>
      <p:sp>
        <p:nvSpPr>
          <p:cNvPr id="24" name="Text 22"/>
          <p:cNvSpPr/>
          <p:nvPr/>
        </p:nvSpPr>
        <p:spPr>
          <a:xfrm>
            <a:off x="2072640" y="542544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Promotor(a)</a:t>
            </a:r>
            <a:endParaRPr lang="en-US" sz="1333" dirty="0"/>
          </a:p>
        </p:txBody>
      </p:sp>
      <p:sp>
        <p:nvSpPr>
          <p:cNvPr id="25" name="Shape 23"/>
          <p:cNvSpPr/>
          <p:nvPr/>
        </p:nvSpPr>
        <p:spPr>
          <a:xfrm>
            <a:off x="3560064" y="4632960"/>
            <a:ext cx="2682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803904" y="4876800"/>
            <a:ext cx="975360" cy="97536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03904" y="4876800"/>
            <a:ext cx="975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</a:t>
            </a:r>
            <a:endParaRPr lang="en-US" sz="2933" dirty="0"/>
          </a:p>
        </p:txBody>
      </p:sp>
      <p:sp>
        <p:nvSpPr>
          <p:cNvPr id="28" name="Text 26"/>
          <p:cNvSpPr/>
          <p:nvPr/>
        </p:nvSpPr>
        <p:spPr>
          <a:xfrm>
            <a:off x="4901184" y="499872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Waesllem</a:t>
            </a:r>
            <a:endParaRPr lang="en-US" sz="1867" dirty="0"/>
          </a:p>
        </p:txBody>
      </p:sp>
      <p:sp>
        <p:nvSpPr>
          <p:cNvPr id="29" name="Text 27"/>
          <p:cNvSpPr/>
          <p:nvPr/>
        </p:nvSpPr>
        <p:spPr>
          <a:xfrm>
            <a:off x="4901184" y="542544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Promotor(a)</a:t>
            </a:r>
            <a:endParaRPr lang="en-US" sz="1333" dirty="0"/>
          </a:p>
        </p:txBody>
      </p:sp>
      <p:sp>
        <p:nvSpPr>
          <p:cNvPr id="30" name="Shape 28"/>
          <p:cNvSpPr/>
          <p:nvPr/>
        </p:nvSpPr>
        <p:spPr>
          <a:xfrm>
            <a:off x="6388608" y="4632960"/>
            <a:ext cx="2682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632448" y="4876800"/>
            <a:ext cx="975360" cy="97536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632448" y="4876800"/>
            <a:ext cx="975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</a:t>
            </a:r>
            <a:endParaRPr lang="en-US" sz="2933" dirty="0"/>
          </a:p>
        </p:txBody>
      </p:sp>
      <p:sp>
        <p:nvSpPr>
          <p:cNvPr id="33" name="Text 31"/>
          <p:cNvSpPr/>
          <p:nvPr/>
        </p:nvSpPr>
        <p:spPr>
          <a:xfrm>
            <a:off x="7729728" y="499872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Emilly</a:t>
            </a:r>
            <a:endParaRPr lang="en-US" sz="1867" dirty="0"/>
          </a:p>
        </p:txBody>
      </p:sp>
      <p:sp>
        <p:nvSpPr>
          <p:cNvPr id="34" name="Text 32"/>
          <p:cNvSpPr/>
          <p:nvPr/>
        </p:nvSpPr>
        <p:spPr>
          <a:xfrm>
            <a:off x="7729728" y="542544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Promotor(a)</a:t>
            </a:r>
            <a:endParaRPr lang="en-US" sz="1333" dirty="0"/>
          </a:p>
        </p:txBody>
      </p:sp>
      <p:sp>
        <p:nvSpPr>
          <p:cNvPr id="35" name="Shape 33"/>
          <p:cNvSpPr/>
          <p:nvPr/>
        </p:nvSpPr>
        <p:spPr>
          <a:xfrm>
            <a:off x="731520" y="6278880"/>
            <a:ext cx="2682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75360" y="6522720"/>
            <a:ext cx="975360" cy="97536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75360" y="6522720"/>
            <a:ext cx="975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</a:t>
            </a:r>
            <a:endParaRPr lang="en-US" sz="2933" dirty="0"/>
          </a:p>
        </p:txBody>
      </p:sp>
      <p:sp>
        <p:nvSpPr>
          <p:cNvPr id="38" name="Text 36"/>
          <p:cNvSpPr/>
          <p:nvPr/>
        </p:nvSpPr>
        <p:spPr>
          <a:xfrm>
            <a:off x="2072640" y="664464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Francisco</a:t>
            </a:r>
            <a:endParaRPr lang="en-US" sz="1867" dirty="0"/>
          </a:p>
        </p:txBody>
      </p:sp>
      <p:sp>
        <p:nvSpPr>
          <p:cNvPr id="39" name="Text 37"/>
          <p:cNvSpPr/>
          <p:nvPr/>
        </p:nvSpPr>
        <p:spPr>
          <a:xfrm>
            <a:off x="2072640" y="707136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Promotor(a)</a:t>
            </a:r>
            <a:endParaRPr lang="en-US" sz="1333" dirty="0"/>
          </a:p>
        </p:txBody>
      </p:sp>
      <p:sp>
        <p:nvSpPr>
          <p:cNvPr id="40" name="Shape 38"/>
          <p:cNvSpPr/>
          <p:nvPr/>
        </p:nvSpPr>
        <p:spPr>
          <a:xfrm>
            <a:off x="3560064" y="6278880"/>
            <a:ext cx="2682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803904" y="6522720"/>
            <a:ext cx="975360" cy="975360"/>
          </a:xfrm>
          <a:prstGeom prst="ellipse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03904" y="6522720"/>
            <a:ext cx="975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</a:t>
            </a:r>
            <a:endParaRPr lang="en-US" sz="2933" dirty="0"/>
          </a:p>
        </p:txBody>
      </p:sp>
      <p:sp>
        <p:nvSpPr>
          <p:cNvPr id="43" name="Text 41"/>
          <p:cNvSpPr/>
          <p:nvPr/>
        </p:nvSpPr>
        <p:spPr>
          <a:xfrm>
            <a:off x="4901184" y="664464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Greiciane</a:t>
            </a:r>
            <a:endParaRPr lang="en-US" sz="1867" dirty="0"/>
          </a:p>
        </p:txBody>
      </p:sp>
      <p:sp>
        <p:nvSpPr>
          <p:cNvPr id="44" name="Text 42"/>
          <p:cNvSpPr/>
          <p:nvPr/>
        </p:nvSpPr>
        <p:spPr>
          <a:xfrm>
            <a:off x="4901184" y="707136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Promotor(a)</a:t>
            </a:r>
            <a:endParaRPr lang="en-US" sz="1333" dirty="0"/>
          </a:p>
        </p:txBody>
      </p:sp>
      <p:sp>
        <p:nvSpPr>
          <p:cNvPr id="45" name="Shape 43"/>
          <p:cNvSpPr/>
          <p:nvPr/>
        </p:nvSpPr>
        <p:spPr>
          <a:xfrm>
            <a:off x="6388608" y="6278880"/>
            <a:ext cx="2682240" cy="1463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6632448" y="6522720"/>
            <a:ext cx="975360" cy="975360"/>
          </a:xfrm>
          <a:prstGeom prst="ellipse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632448" y="6522720"/>
            <a:ext cx="975360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</a:t>
            </a:r>
            <a:endParaRPr lang="en-US" sz="2933" dirty="0"/>
          </a:p>
        </p:txBody>
      </p:sp>
      <p:sp>
        <p:nvSpPr>
          <p:cNvPr id="48" name="Text 46"/>
          <p:cNvSpPr/>
          <p:nvPr/>
        </p:nvSpPr>
        <p:spPr>
          <a:xfrm>
            <a:off x="7729728" y="6644640"/>
            <a:ext cx="1219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Elisângela</a:t>
            </a:r>
            <a:endParaRPr lang="en-US" sz="1867" dirty="0"/>
          </a:p>
        </p:txBody>
      </p:sp>
      <p:sp>
        <p:nvSpPr>
          <p:cNvPr id="49" name="Text 47"/>
          <p:cNvSpPr/>
          <p:nvPr/>
        </p:nvSpPr>
        <p:spPr>
          <a:xfrm>
            <a:off x="7729728" y="7071360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Promotor(a)</a:t>
            </a:r>
            <a:endParaRPr lang="en-US" sz="1333" dirty="0"/>
          </a:p>
        </p:txBody>
      </p:sp>
      <p:sp>
        <p:nvSpPr>
          <p:cNvPr id="50" name="Shape 48"/>
          <p:cNvSpPr/>
          <p:nvPr/>
        </p:nvSpPr>
        <p:spPr>
          <a:xfrm>
            <a:off x="9387840" y="2987040"/>
            <a:ext cx="6096000" cy="49377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9387840" y="2987040"/>
            <a:ext cx="6096000" cy="1219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5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5520" y="3474720"/>
            <a:ext cx="731520" cy="731520"/>
          </a:xfrm>
          <a:prstGeom prst="rect">
            <a:avLst/>
          </a:prstGeom>
        </p:spPr>
      </p:pic>
      <p:sp>
        <p:nvSpPr>
          <p:cNvPr id="53" name="Text 50"/>
          <p:cNvSpPr/>
          <p:nvPr/>
        </p:nvSpPr>
        <p:spPr>
          <a:xfrm>
            <a:off x="10850880" y="3474720"/>
            <a:ext cx="4511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gerimos a equipe</a:t>
            </a:r>
            <a:endParaRPr lang="en-US" sz="2667" dirty="0"/>
          </a:p>
        </p:txBody>
      </p:sp>
      <p:sp>
        <p:nvSpPr>
          <p:cNvPr id="54" name="Shape 51"/>
          <p:cNvSpPr/>
          <p:nvPr/>
        </p:nvSpPr>
        <p:spPr>
          <a:xfrm>
            <a:off x="9875520" y="4572000"/>
            <a:ext cx="426720" cy="42672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5" name="Text 52"/>
          <p:cNvSpPr/>
          <p:nvPr/>
        </p:nvSpPr>
        <p:spPr>
          <a:xfrm>
            <a:off x="9875520" y="4572000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733" dirty="0"/>
          </a:p>
        </p:txBody>
      </p:sp>
      <p:sp>
        <p:nvSpPr>
          <p:cNvPr id="56" name="Text 53"/>
          <p:cNvSpPr/>
          <p:nvPr/>
        </p:nvSpPr>
        <p:spPr>
          <a:xfrm>
            <a:off x="10546080" y="445008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Responsabilidade individual</a:t>
            </a:r>
            <a:endParaRPr lang="en-US" sz="1867" dirty="0"/>
          </a:p>
        </p:txBody>
      </p:sp>
      <p:sp>
        <p:nvSpPr>
          <p:cNvPr id="57" name="Text 54"/>
          <p:cNvSpPr/>
          <p:nvPr/>
        </p:nvSpPr>
        <p:spPr>
          <a:xfrm>
            <a:off x="10546080" y="4901184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 PDV tem promotor titular.</a:t>
            </a:r>
            <a:endParaRPr lang="en-US" sz="1467" dirty="0"/>
          </a:p>
        </p:txBody>
      </p:sp>
      <p:sp>
        <p:nvSpPr>
          <p:cNvPr id="58" name="Shape 55"/>
          <p:cNvSpPr/>
          <p:nvPr/>
        </p:nvSpPr>
        <p:spPr>
          <a:xfrm>
            <a:off x="9875520" y="5608320"/>
            <a:ext cx="426720" cy="42672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9" name="Text 56"/>
          <p:cNvSpPr/>
          <p:nvPr/>
        </p:nvSpPr>
        <p:spPr>
          <a:xfrm>
            <a:off x="9875520" y="5608320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733" dirty="0"/>
          </a:p>
        </p:txBody>
      </p:sp>
      <p:sp>
        <p:nvSpPr>
          <p:cNvPr id="60" name="Text 57"/>
          <p:cNvSpPr/>
          <p:nvPr/>
        </p:nvSpPr>
        <p:spPr>
          <a:xfrm>
            <a:off x="10546080" y="548640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Histórico completo</a:t>
            </a:r>
            <a:endParaRPr lang="en-US" sz="1867" dirty="0"/>
          </a:p>
        </p:txBody>
      </p:sp>
      <p:sp>
        <p:nvSpPr>
          <p:cNvPr id="61" name="Text 58"/>
          <p:cNvSpPr/>
          <p:nvPr/>
        </p:nvSpPr>
        <p:spPr>
          <a:xfrm>
            <a:off x="10546080" y="5937504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 visita e lançamento ficam registrados.</a:t>
            </a:r>
            <a:endParaRPr lang="en-US" sz="1467" dirty="0"/>
          </a:p>
        </p:txBody>
      </p:sp>
      <p:sp>
        <p:nvSpPr>
          <p:cNvPr id="62" name="Shape 59"/>
          <p:cNvSpPr/>
          <p:nvPr/>
        </p:nvSpPr>
        <p:spPr>
          <a:xfrm>
            <a:off x="9875520" y="6644640"/>
            <a:ext cx="426720" cy="42672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63" name="Text 60"/>
          <p:cNvSpPr/>
          <p:nvPr/>
        </p:nvSpPr>
        <p:spPr>
          <a:xfrm>
            <a:off x="9875520" y="6644640"/>
            <a:ext cx="42672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733" dirty="0"/>
          </a:p>
        </p:txBody>
      </p:sp>
      <p:sp>
        <p:nvSpPr>
          <p:cNvPr id="64" name="Text 61"/>
          <p:cNvSpPr/>
          <p:nvPr/>
        </p:nvSpPr>
        <p:spPr>
          <a:xfrm>
            <a:off x="10546080" y="6522720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Controle de produtividade</a:t>
            </a:r>
            <a:endParaRPr lang="en-US" sz="1867" dirty="0"/>
          </a:p>
        </p:txBody>
      </p:sp>
      <p:sp>
        <p:nvSpPr>
          <p:cNvPr id="65" name="Text 62"/>
          <p:cNvSpPr/>
          <p:nvPr/>
        </p:nvSpPr>
        <p:spPr>
          <a:xfrm>
            <a:off x="10546080" y="6973824"/>
            <a:ext cx="48768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Indicadores por pessoa e por loja.</a:t>
            </a:r>
            <a:endParaRPr lang="en-US" sz="1467" dirty="0"/>
          </a:p>
        </p:txBody>
      </p:sp>
      <p:sp>
        <p:nvSpPr>
          <p:cNvPr id="66" name="Shape 63"/>
          <p:cNvSpPr/>
          <p:nvPr/>
        </p:nvSpPr>
        <p:spPr>
          <a:xfrm>
            <a:off x="0" y="9083040"/>
            <a:ext cx="16215360" cy="6096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67" name="Text 64"/>
          <p:cNvSpPr/>
          <p:nvPr/>
        </p:nvSpPr>
        <p:spPr>
          <a:xfrm>
            <a:off x="609600" y="86319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industria24h.com.br/consignado</a:t>
            </a:r>
            <a:endParaRPr lang="en-US" sz="1333" dirty="0"/>
          </a:p>
        </p:txBody>
      </p:sp>
      <p:sp>
        <p:nvSpPr>
          <p:cNvPr id="68" name="Text 65"/>
          <p:cNvSpPr/>
          <p:nvPr/>
        </p:nvSpPr>
        <p:spPr>
          <a:xfrm>
            <a:off x="14386560" y="863193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20</a:t>
            </a:r>
            <a:endParaRPr lang="en-US" sz="1333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121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kern="0" spc="4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867" dirty="0"/>
          </a:p>
        </p:txBody>
      </p:sp>
      <p:sp>
        <p:nvSpPr>
          <p:cNvPr id="3" name="Text 1"/>
          <p:cNvSpPr/>
          <p:nvPr/>
        </p:nvSpPr>
        <p:spPr>
          <a:xfrm>
            <a:off x="609600" y="1036320"/>
            <a:ext cx="1463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FAQ — Treinamento da Equipe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213360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4 perguntas que mais aparecem na ativação de novos promotores.</a:t>
            </a:r>
            <a:endParaRPr lang="en-US" sz="2133" dirty="0"/>
          </a:p>
        </p:txBody>
      </p:sp>
      <p:sp>
        <p:nvSpPr>
          <p:cNvPr id="5" name="Shape 3"/>
          <p:cNvSpPr/>
          <p:nvPr/>
        </p:nvSpPr>
        <p:spPr>
          <a:xfrm>
            <a:off x="731520" y="2987040"/>
            <a:ext cx="7315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097280" y="3352800"/>
            <a:ext cx="670560" cy="67056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35280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950720" y="3352800"/>
            <a:ext cx="58521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acesso a plataforma?</a:t>
            </a:r>
            <a:endParaRPr lang="en-US" sz="2133" dirty="0"/>
          </a:p>
        </p:txBody>
      </p:sp>
      <p:sp>
        <p:nvSpPr>
          <p:cNvPr id="9" name="Shape 7"/>
          <p:cNvSpPr/>
          <p:nvPr/>
        </p:nvSpPr>
        <p:spPr>
          <a:xfrm>
            <a:off x="1097280" y="4145280"/>
            <a:ext cx="6583680" cy="243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97280" y="4328160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432816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1767840" y="4328160"/>
            <a:ext cx="60350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em industria24h.com.br/consignado pelo navegador — celular, tablet ou PC. Não precisa instalar nada.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8412480" y="2987040"/>
            <a:ext cx="7315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778240" y="3352800"/>
            <a:ext cx="670560" cy="67056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778240" y="335280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9631680" y="3352800"/>
            <a:ext cx="58521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Preciso selecionar Promotor E PDV?</a:t>
            </a:r>
            <a:endParaRPr lang="en-US" sz="2133" dirty="0"/>
          </a:p>
        </p:txBody>
      </p:sp>
      <p:sp>
        <p:nvSpPr>
          <p:cNvPr id="17" name="Shape 15"/>
          <p:cNvSpPr/>
          <p:nvPr/>
        </p:nvSpPr>
        <p:spPr>
          <a:xfrm>
            <a:off x="8778240" y="4145280"/>
            <a:ext cx="6583680" cy="243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778240" y="4328160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432816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67" dirty="0"/>
          </a:p>
        </p:txBody>
      </p:sp>
      <p:sp>
        <p:nvSpPr>
          <p:cNvPr id="20" name="Text 18"/>
          <p:cNvSpPr/>
          <p:nvPr/>
        </p:nvSpPr>
        <p:spPr>
          <a:xfrm>
            <a:off x="9448800" y="4328160"/>
            <a:ext cx="60350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Sim, obrigatório. Cada lançamento precisa estar amarrado a um promotor e a uma loja para garantir rastreabilidade.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731520" y="5791200"/>
            <a:ext cx="7315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1097280" y="6156960"/>
            <a:ext cx="670560" cy="67056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615696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1950720" y="6156960"/>
            <a:ext cx="58521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o sistema iguala o relatório?</a:t>
            </a:r>
            <a:endParaRPr lang="en-US" sz="2133" dirty="0"/>
          </a:p>
        </p:txBody>
      </p:sp>
      <p:sp>
        <p:nvSpPr>
          <p:cNvPr id="25" name="Shape 23"/>
          <p:cNvSpPr/>
          <p:nvPr/>
        </p:nvSpPr>
        <p:spPr>
          <a:xfrm>
            <a:off x="1097280" y="6949440"/>
            <a:ext cx="6583680" cy="243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97280" y="7132320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097280" y="713232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67" dirty="0"/>
          </a:p>
        </p:txBody>
      </p:sp>
      <p:sp>
        <p:nvSpPr>
          <p:cNvPr id="28" name="Text 26"/>
          <p:cNvSpPr/>
          <p:nvPr/>
        </p:nvSpPr>
        <p:spPr>
          <a:xfrm>
            <a:off x="1767840" y="7132320"/>
            <a:ext cx="60350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Sincroniza automaticamente avarias, estoques e trocas — o relatório final reflete o que foi lançado em campo.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8412480" y="5791200"/>
            <a:ext cx="7315200" cy="2560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8778240" y="6156960"/>
            <a:ext cx="670560" cy="67056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0" y="6156960"/>
            <a:ext cx="670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4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9631680" y="6156960"/>
            <a:ext cx="58521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mudar de filial?</a:t>
            </a:r>
            <a:endParaRPr lang="en-US" sz="2133" dirty="0"/>
          </a:p>
        </p:txBody>
      </p:sp>
      <p:sp>
        <p:nvSpPr>
          <p:cNvPr id="33" name="Shape 31"/>
          <p:cNvSpPr/>
          <p:nvPr/>
        </p:nvSpPr>
        <p:spPr>
          <a:xfrm>
            <a:off x="8778240" y="6949440"/>
            <a:ext cx="6583680" cy="24384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778240" y="7132320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78240" y="7132320"/>
            <a:ext cx="4876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</a:t>
            </a:r>
            <a:endParaRPr lang="en-US" sz="1867" dirty="0"/>
          </a:p>
        </p:txBody>
      </p:sp>
      <p:sp>
        <p:nvSpPr>
          <p:cNvPr id="36" name="Text 34"/>
          <p:cNvSpPr/>
          <p:nvPr/>
        </p:nvSpPr>
        <p:spPr>
          <a:xfrm>
            <a:off x="9448800" y="7132320"/>
            <a:ext cx="6035040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seletor de filial para alternar entre Rio Branco (AC) e Manaus (AM) sem sair da sessão.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0" y="9083040"/>
            <a:ext cx="16215360" cy="6096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09600" y="86319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industria24h.com.br/consignado</a:t>
            </a:r>
            <a:endParaRPr lang="en-US" sz="1333" dirty="0"/>
          </a:p>
        </p:txBody>
      </p:sp>
      <p:sp>
        <p:nvSpPr>
          <p:cNvPr id="39" name="Text 37"/>
          <p:cNvSpPr/>
          <p:nvPr/>
        </p:nvSpPr>
        <p:spPr>
          <a:xfrm>
            <a:off x="14386560" y="863193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20</a:t>
            </a:r>
            <a:endParaRPr lang="en-US" sz="1333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87680" cy="91440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97280" y="487680"/>
            <a:ext cx="1219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kern="0" spc="4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867" dirty="0"/>
          </a:p>
        </p:txBody>
      </p:sp>
      <p:sp>
        <p:nvSpPr>
          <p:cNvPr id="4" name="Text 2"/>
          <p:cNvSpPr/>
          <p:nvPr/>
        </p:nvSpPr>
        <p:spPr>
          <a:xfrm>
            <a:off x="1097280" y="1036320"/>
            <a:ext cx="1463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3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Próximos Passos</a:t>
            </a:r>
            <a:endParaRPr lang="en-US" sz="5333" dirty="0"/>
          </a:p>
        </p:txBody>
      </p:sp>
      <p:sp>
        <p:nvSpPr>
          <p:cNvPr id="5" name="Text 3"/>
          <p:cNvSpPr/>
          <p:nvPr/>
        </p:nvSpPr>
        <p:spPr>
          <a:xfrm>
            <a:off x="1097280" y="213360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i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 ativação para colocar a sua rede em operação plena.</a:t>
            </a:r>
            <a:endParaRPr lang="en-US" sz="2133" dirty="0"/>
          </a:p>
        </p:txBody>
      </p:sp>
      <p:sp>
        <p:nvSpPr>
          <p:cNvPr id="6" name="Shape 4"/>
          <p:cNvSpPr/>
          <p:nvPr/>
        </p:nvSpPr>
        <p:spPr>
          <a:xfrm>
            <a:off x="1463040" y="4145280"/>
            <a:ext cx="14093952" cy="48768"/>
          </a:xfrm>
          <a:prstGeom prst="rect">
            <a:avLst/>
          </a:prstGeom>
          <a:solidFill>
            <a:srgbClr val="FFC107">
              <a:alpha val="40000"/>
            </a:srgbClr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108960"/>
            <a:ext cx="2828544" cy="426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97280" y="3108960"/>
            <a:ext cx="2828544" cy="9753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267712" y="3901440"/>
            <a:ext cx="487680" cy="487680"/>
          </a:xfrm>
          <a:prstGeom prst="ellipse">
            <a:avLst/>
          </a:prstGeom>
          <a:solidFill>
            <a:srgbClr val="FFC10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341120" y="4632960"/>
            <a:ext cx="234086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5867" dirty="0"/>
          </a:p>
        </p:txBody>
      </p:sp>
      <p:sp>
        <p:nvSpPr>
          <p:cNvPr id="11" name="Text 9"/>
          <p:cNvSpPr/>
          <p:nvPr/>
        </p:nvSpPr>
        <p:spPr>
          <a:xfrm>
            <a:off x="1280160" y="5608320"/>
            <a:ext cx="24627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dos PDVs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1341120" y="6217920"/>
            <a:ext cx="2340864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Levantamento e cadastro de cada loja da rede.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4096512" y="3108960"/>
            <a:ext cx="2828544" cy="426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096512" y="3108960"/>
            <a:ext cx="2828544" cy="9753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266944" y="3901440"/>
            <a:ext cx="487680" cy="487680"/>
          </a:xfrm>
          <a:prstGeom prst="ellipse">
            <a:avLst/>
          </a:prstGeom>
          <a:solidFill>
            <a:srgbClr val="FFC10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340352" y="4632960"/>
            <a:ext cx="234086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5867" dirty="0"/>
          </a:p>
        </p:txBody>
      </p:sp>
      <p:sp>
        <p:nvSpPr>
          <p:cNvPr id="17" name="Text 15"/>
          <p:cNvSpPr/>
          <p:nvPr/>
        </p:nvSpPr>
        <p:spPr>
          <a:xfrm>
            <a:off x="4279392" y="5608320"/>
            <a:ext cx="24627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promotores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340352" y="6217920"/>
            <a:ext cx="2340864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Criação de usuários e amarração com PDVs.</a:t>
            </a:r>
            <a:endParaRPr lang="en-US" sz="1467" dirty="0"/>
          </a:p>
        </p:txBody>
      </p:sp>
      <p:sp>
        <p:nvSpPr>
          <p:cNvPr id="19" name="Shape 17"/>
          <p:cNvSpPr/>
          <p:nvPr/>
        </p:nvSpPr>
        <p:spPr>
          <a:xfrm>
            <a:off x="7095744" y="3108960"/>
            <a:ext cx="2828544" cy="426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095744" y="3108960"/>
            <a:ext cx="2828544" cy="9753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266176" y="3901440"/>
            <a:ext cx="487680" cy="487680"/>
          </a:xfrm>
          <a:prstGeom prst="ellipse">
            <a:avLst/>
          </a:prstGeom>
          <a:solidFill>
            <a:srgbClr val="FFC10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339584" y="4632960"/>
            <a:ext cx="234086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5867" dirty="0"/>
          </a:p>
        </p:txBody>
      </p:sp>
      <p:sp>
        <p:nvSpPr>
          <p:cNvPr id="23" name="Text 21"/>
          <p:cNvSpPr/>
          <p:nvPr/>
        </p:nvSpPr>
        <p:spPr>
          <a:xfrm>
            <a:off x="7278624" y="5608320"/>
            <a:ext cx="24627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339584" y="6217920"/>
            <a:ext cx="2340864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Sessões práticas com a equipe em campo.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10094976" y="3108960"/>
            <a:ext cx="2828544" cy="426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094976" y="3108960"/>
            <a:ext cx="2828544" cy="9753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265408" y="3901440"/>
            <a:ext cx="487680" cy="487680"/>
          </a:xfrm>
          <a:prstGeom prst="ellipse">
            <a:avLst/>
          </a:prstGeom>
          <a:solidFill>
            <a:srgbClr val="FFC10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338816" y="4632960"/>
            <a:ext cx="234086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5867" dirty="0"/>
          </a:p>
        </p:txBody>
      </p:sp>
      <p:sp>
        <p:nvSpPr>
          <p:cNvPr id="29" name="Text 27"/>
          <p:cNvSpPr/>
          <p:nvPr/>
        </p:nvSpPr>
        <p:spPr>
          <a:xfrm>
            <a:off x="10277856" y="5608320"/>
            <a:ext cx="24627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Período de testes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10338816" y="6217920"/>
            <a:ext cx="2340864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assistida com suporte dedicado.</a:t>
            </a:r>
            <a:endParaRPr lang="en-US" sz="1467" dirty="0"/>
          </a:p>
        </p:txBody>
      </p:sp>
      <p:sp>
        <p:nvSpPr>
          <p:cNvPr id="31" name="Shape 29"/>
          <p:cNvSpPr/>
          <p:nvPr/>
        </p:nvSpPr>
        <p:spPr>
          <a:xfrm>
            <a:off x="13094208" y="3108960"/>
            <a:ext cx="2828544" cy="42672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13094208" y="3108960"/>
            <a:ext cx="2828544" cy="9753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4264640" y="3901440"/>
            <a:ext cx="487680" cy="487680"/>
          </a:xfrm>
          <a:prstGeom prst="ellipse">
            <a:avLst/>
          </a:prstGeom>
          <a:solidFill>
            <a:srgbClr val="FFC107"/>
          </a:solidFill>
          <a:ln w="38100">
            <a:solidFill>
              <a:srgbClr val="FFFFFF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3338048" y="4632960"/>
            <a:ext cx="2340864" cy="975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58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5867" dirty="0"/>
          </a:p>
        </p:txBody>
      </p:sp>
      <p:sp>
        <p:nvSpPr>
          <p:cNvPr id="35" name="Text 33"/>
          <p:cNvSpPr/>
          <p:nvPr/>
        </p:nvSpPr>
        <p:spPr>
          <a:xfrm>
            <a:off x="13277088" y="5608320"/>
            <a:ext cx="2462784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0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Operação plena</a:t>
            </a:r>
            <a:endParaRPr lang="en-US" sz="2000" dirty="0"/>
          </a:p>
        </p:txBody>
      </p:sp>
      <p:sp>
        <p:nvSpPr>
          <p:cNvPr id="36" name="Text 34"/>
          <p:cNvSpPr/>
          <p:nvPr/>
        </p:nvSpPr>
        <p:spPr>
          <a:xfrm>
            <a:off x="13338048" y="6217920"/>
            <a:ext cx="2340864" cy="1036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>
              <a:lnSpc>
                <a:spcPct val="135000"/>
              </a:lnSpc>
            </a:pPr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rodando com indicadores em tempo real.</a:t>
            </a:r>
            <a:endParaRPr lang="en-US" sz="1467" dirty="0"/>
          </a:p>
        </p:txBody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8107680"/>
            <a:ext cx="548640" cy="548640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1828800" y="8107680"/>
            <a:ext cx="14020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 estimado total: 15 a 30 dias para operação plena, dependendo do porte da rede.</a:t>
            </a:r>
            <a:endParaRPr lang="en-US" sz="1867" dirty="0"/>
          </a:p>
        </p:txBody>
      </p:sp>
      <p:sp>
        <p:nvSpPr>
          <p:cNvPr id="39" name="Shape 36"/>
          <p:cNvSpPr/>
          <p:nvPr/>
        </p:nvSpPr>
        <p:spPr>
          <a:xfrm>
            <a:off x="0" y="9083040"/>
            <a:ext cx="16215360" cy="6096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1097280" y="86319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industria24h.com.br/consignado</a:t>
            </a:r>
            <a:endParaRPr lang="en-US" sz="1333" dirty="0"/>
          </a:p>
        </p:txBody>
      </p:sp>
      <p:sp>
        <p:nvSpPr>
          <p:cNvPr id="41" name="Text 38"/>
          <p:cNvSpPr/>
          <p:nvPr/>
        </p:nvSpPr>
        <p:spPr>
          <a:xfrm>
            <a:off x="14386560" y="863193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20</a:t>
            </a:r>
            <a:endParaRPr lang="en-US" sz="1333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1338560" y="0"/>
            <a:ext cx="4876800" cy="9144000"/>
          </a:xfrm>
          <a:prstGeom prst="rect">
            <a:avLst/>
          </a:prstGeom>
          <a:solidFill>
            <a:srgbClr val="3949AB"/>
          </a:solidFill>
          <a:ln w="12700">
            <a:solidFill>
              <a:srgbClr val="3949A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5605760" y="0"/>
            <a:ext cx="609600" cy="91440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5360" y="3169920"/>
            <a:ext cx="48768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2926080"/>
            <a:ext cx="7315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kern="0" spc="8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975360" y="3657600"/>
            <a:ext cx="10363200" cy="1706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5000"/>
              </a:lnSpc>
            </a:pPr>
            <a:r>
              <a:rPr lang="en-US" sz="10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Guia de Telas</a:t>
            </a:r>
            <a:endParaRPr lang="en-US" sz="10400" dirty="0"/>
          </a:p>
        </p:txBody>
      </p:sp>
      <p:sp>
        <p:nvSpPr>
          <p:cNvPr id="7" name="Text 5"/>
          <p:cNvSpPr/>
          <p:nvPr/>
        </p:nvSpPr>
        <p:spPr>
          <a:xfrm>
            <a:off x="975360" y="5608320"/>
            <a:ext cx="103632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733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Consignado — FAQ</a:t>
            </a:r>
            <a:endParaRPr lang="en-US" sz="3733" dirty="0"/>
          </a:p>
        </p:txBody>
      </p:sp>
      <p:sp>
        <p:nvSpPr>
          <p:cNvPr id="8" name="Text 6"/>
          <p:cNvSpPr/>
          <p:nvPr/>
        </p:nvSpPr>
        <p:spPr>
          <a:xfrm>
            <a:off x="975360" y="6583680"/>
            <a:ext cx="9753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i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Documentação completa das funcionalidades — telas, fluxos e perfis de acesso.</a:t>
            </a:r>
            <a:endParaRPr lang="en-US" sz="2133" dirty="0"/>
          </a:p>
        </p:txBody>
      </p:sp>
      <p:sp>
        <p:nvSpPr>
          <p:cNvPr id="9" name="Text 7"/>
          <p:cNvSpPr/>
          <p:nvPr/>
        </p:nvSpPr>
        <p:spPr>
          <a:xfrm>
            <a:off x="11704320" y="15849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66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666" dirty="0"/>
          </a:p>
        </p:txBody>
      </p:sp>
      <p:sp>
        <p:nvSpPr>
          <p:cNvPr id="10" name="Text 8"/>
          <p:cNvSpPr/>
          <p:nvPr/>
        </p:nvSpPr>
        <p:spPr>
          <a:xfrm>
            <a:off x="11704320" y="3474720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DOCUMENTADAS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704320" y="426720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0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400" dirty="0"/>
          </a:p>
        </p:txBody>
      </p:sp>
      <p:sp>
        <p:nvSpPr>
          <p:cNvPr id="12" name="Text 10"/>
          <p:cNvSpPr/>
          <p:nvPr/>
        </p:nvSpPr>
        <p:spPr>
          <a:xfrm>
            <a:off x="11704320" y="5730240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ATIVOS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1704320" y="6339840"/>
            <a:ext cx="36576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v1.0</a:t>
            </a:r>
            <a:endParaRPr lang="en-US" sz="8000" dirty="0"/>
          </a:p>
        </p:txBody>
      </p:sp>
      <p:sp>
        <p:nvSpPr>
          <p:cNvPr id="14" name="Text 12"/>
          <p:cNvSpPr/>
          <p:nvPr/>
        </p:nvSpPr>
        <p:spPr>
          <a:xfrm>
            <a:off x="11704320" y="7620000"/>
            <a:ext cx="4267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400" dirty="0">
                <a:solidFill>
                  <a:srgbClr val="F8FA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VERSÃO • MAIO/2026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0" y="9083040"/>
            <a:ext cx="16215360" cy="6096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5360" y="86319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industria24h.com.br/consignado</a:t>
            </a:r>
            <a:endParaRPr lang="en-US" sz="1333" dirty="0"/>
          </a:p>
        </p:txBody>
      </p:sp>
      <p:sp>
        <p:nvSpPr>
          <p:cNvPr id="17" name="Text 15"/>
          <p:cNvSpPr/>
          <p:nvPr/>
        </p:nvSpPr>
        <p:spPr>
          <a:xfrm>
            <a:off x="14386560" y="863193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20</a:t>
            </a:r>
            <a:endParaRPr lang="en-US" sz="1333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kern="0" spc="4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PARTE II</a:t>
            </a:r>
            <a:endParaRPr lang="en-US" sz="1867" dirty="0"/>
          </a:p>
        </p:txBody>
      </p:sp>
      <p:sp>
        <p:nvSpPr>
          <p:cNvPr id="3" name="Text 1"/>
          <p:cNvSpPr/>
          <p:nvPr/>
        </p:nvSpPr>
        <p:spPr>
          <a:xfrm>
            <a:off x="609600" y="1036320"/>
            <a:ext cx="1463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0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Geral de Telas</a:t>
            </a:r>
            <a:endParaRPr lang="en-US" sz="5067" dirty="0"/>
          </a:p>
        </p:txBody>
      </p:sp>
      <p:sp>
        <p:nvSpPr>
          <p:cNvPr id="4" name="Text 2"/>
          <p:cNvSpPr/>
          <p:nvPr/>
        </p:nvSpPr>
        <p:spPr>
          <a:xfrm>
            <a:off x="609600" y="213360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Mapa completo dos módulos do sistema, com referência rápida.</a:t>
            </a:r>
            <a:endParaRPr lang="en-US" sz="2133" dirty="0"/>
          </a:p>
        </p:txBody>
      </p:sp>
      <p:sp>
        <p:nvSpPr>
          <p:cNvPr id="5" name="Shape 3"/>
          <p:cNvSpPr/>
          <p:nvPr/>
        </p:nvSpPr>
        <p:spPr>
          <a:xfrm>
            <a:off x="731520" y="2865120"/>
            <a:ext cx="7315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865120"/>
            <a:ext cx="121920" cy="1280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97280" y="3108960"/>
            <a:ext cx="10972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4800" dirty="0"/>
          </a:p>
        </p:txBody>
      </p:sp>
      <p:sp>
        <p:nvSpPr>
          <p:cNvPr id="8" name="Shape 6"/>
          <p:cNvSpPr/>
          <p:nvPr/>
        </p:nvSpPr>
        <p:spPr>
          <a:xfrm>
            <a:off x="2316480" y="3108960"/>
            <a:ext cx="792480" cy="7924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74976" y="3267456"/>
            <a:ext cx="487680" cy="487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3291840" y="3084576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Consignado</a:t>
            </a:r>
            <a:endParaRPr lang="en-US" sz="2133" dirty="0"/>
          </a:p>
        </p:txBody>
      </p:sp>
      <p:sp>
        <p:nvSpPr>
          <p:cNvPr id="11" name="Text 8"/>
          <p:cNvSpPr/>
          <p:nvPr/>
        </p:nvSpPr>
        <p:spPr>
          <a:xfrm>
            <a:off x="3291840" y="3596640"/>
            <a:ext cx="426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Listagem, cadastro e gerenciamento de produtos.</a:t>
            </a:r>
            <a:endParaRPr lang="en-US" sz="1467" dirty="0"/>
          </a:p>
        </p:txBody>
      </p:sp>
      <p:sp>
        <p:nvSpPr>
          <p:cNvPr id="12" name="Shape 9"/>
          <p:cNvSpPr/>
          <p:nvPr/>
        </p:nvSpPr>
        <p:spPr>
          <a:xfrm>
            <a:off x="8412480" y="2865120"/>
            <a:ext cx="7315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8412480" y="2865120"/>
            <a:ext cx="121920" cy="1280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8778240" y="3108960"/>
            <a:ext cx="10972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4800" dirty="0"/>
          </a:p>
        </p:txBody>
      </p:sp>
      <p:sp>
        <p:nvSpPr>
          <p:cNvPr id="15" name="Shape 12"/>
          <p:cNvSpPr/>
          <p:nvPr/>
        </p:nvSpPr>
        <p:spPr>
          <a:xfrm>
            <a:off x="9997440" y="3108960"/>
            <a:ext cx="792480" cy="7924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5936" y="3267456"/>
            <a:ext cx="487680" cy="487680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0972800" y="3084576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de Pedidos</a:t>
            </a:r>
            <a:endParaRPr lang="en-US" sz="2133" dirty="0"/>
          </a:p>
        </p:txBody>
      </p:sp>
      <p:sp>
        <p:nvSpPr>
          <p:cNvPr id="18" name="Text 14"/>
          <p:cNvSpPr/>
          <p:nvPr/>
        </p:nvSpPr>
        <p:spPr>
          <a:xfrm>
            <a:off x="10972800" y="3596640"/>
            <a:ext cx="426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Avarias, pedidos e contagem de estoque.</a:t>
            </a:r>
            <a:endParaRPr lang="en-US" sz="1467" dirty="0"/>
          </a:p>
        </p:txBody>
      </p:sp>
      <p:sp>
        <p:nvSpPr>
          <p:cNvPr id="19" name="Shape 15"/>
          <p:cNvSpPr/>
          <p:nvPr/>
        </p:nvSpPr>
        <p:spPr>
          <a:xfrm>
            <a:off x="731520" y="4267200"/>
            <a:ext cx="7315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731520" y="4267200"/>
            <a:ext cx="121920" cy="1280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1097280" y="4511040"/>
            <a:ext cx="10972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4800" dirty="0"/>
          </a:p>
        </p:txBody>
      </p:sp>
      <p:sp>
        <p:nvSpPr>
          <p:cNvPr id="22" name="Shape 18"/>
          <p:cNvSpPr/>
          <p:nvPr/>
        </p:nvSpPr>
        <p:spPr>
          <a:xfrm>
            <a:off x="2316480" y="4511040"/>
            <a:ext cx="792480" cy="7924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474976" y="4669536"/>
            <a:ext cx="487680" cy="487680"/>
          </a:xfrm>
          <a:prstGeom prst="rect">
            <a:avLst/>
          </a:prstGeom>
        </p:spPr>
      </p:pic>
      <p:sp>
        <p:nvSpPr>
          <p:cNvPr id="24" name="Text 19"/>
          <p:cNvSpPr/>
          <p:nvPr/>
        </p:nvSpPr>
        <p:spPr>
          <a:xfrm>
            <a:off x="3291840" y="4486656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Pedidos e Trocas</a:t>
            </a:r>
            <a:endParaRPr lang="en-US" sz="2133" dirty="0"/>
          </a:p>
        </p:txBody>
      </p:sp>
      <p:sp>
        <p:nvSpPr>
          <p:cNvPr id="25" name="Text 20"/>
          <p:cNvSpPr/>
          <p:nvPr/>
        </p:nvSpPr>
        <p:spPr>
          <a:xfrm>
            <a:off x="3291840" y="4998720"/>
            <a:ext cx="426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visitas, transferências e aprovações.</a:t>
            </a:r>
            <a:endParaRPr lang="en-US" sz="1467" dirty="0"/>
          </a:p>
        </p:txBody>
      </p:sp>
      <p:sp>
        <p:nvSpPr>
          <p:cNvPr id="26" name="Shape 21"/>
          <p:cNvSpPr/>
          <p:nvPr/>
        </p:nvSpPr>
        <p:spPr>
          <a:xfrm>
            <a:off x="8412480" y="4267200"/>
            <a:ext cx="7315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27" name="Shape 22"/>
          <p:cNvSpPr/>
          <p:nvPr/>
        </p:nvSpPr>
        <p:spPr>
          <a:xfrm>
            <a:off x="8412480" y="4267200"/>
            <a:ext cx="121920" cy="1280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8" name="Text 23"/>
          <p:cNvSpPr/>
          <p:nvPr/>
        </p:nvSpPr>
        <p:spPr>
          <a:xfrm>
            <a:off x="8778240" y="4511040"/>
            <a:ext cx="10972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4800" dirty="0"/>
          </a:p>
        </p:txBody>
      </p:sp>
      <p:sp>
        <p:nvSpPr>
          <p:cNvPr id="29" name="Shape 24"/>
          <p:cNvSpPr/>
          <p:nvPr/>
        </p:nvSpPr>
        <p:spPr>
          <a:xfrm>
            <a:off x="9997440" y="4511040"/>
            <a:ext cx="792480" cy="7924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5936" y="4669536"/>
            <a:ext cx="487680" cy="487680"/>
          </a:xfrm>
          <a:prstGeom prst="rect">
            <a:avLst/>
          </a:prstGeom>
        </p:spPr>
      </p:pic>
      <p:sp>
        <p:nvSpPr>
          <p:cNvPr id="31" name="Text 25"/>
          <p:cNvSpPr/>
          <p:nvPr/>
        </p:nvSpPr>
        <p:spPr>
          <a:xfrm>
            <a:off x="10972800" y="4486656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</a:t>
            </a:r>
            <a:endParaRPr lang="en-US" sz="2133" dirty="0"/>
          </a:p>
        </p:txBody>
      </p:sp>
      <p:sp>
        <p:nvSpPr>
          <p:cNvPr id="32" name="Text 26"/>
          <p:cNvSpPr/>
          <p:nvPr/>
        </p:nvSpPr>
        <p:spPr>
          <a:xfrm>
            <a:off x="10972800" y="4998720"/>
            <a:ext cx="426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Promoções e descontos por produto.</a:t>
            </a:r>
            <a:endParaRPr lang="en-US" sz="1467" dirty="0"/>
          </a:p>
        </p:txBody>
      </p:sp>
      <p:sp>
        <p:nvSpPr>
          <p:cNvPr id="33" name="Shape 27"/>
          <p:cNvSpPr/>
          <p:nvPr/>
        </p:nvSpPr>
        <p:spPr>
          <a:xfrm>
            <a:off x="731520" y="5669280"/>
            <a:ext cx="7315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34" name="Shape 28"/>
          <p:cNvSpPr/>
          <p:nvPr/>
        </p:nvSpPr>
        <p:spPr>
          <a:xfrm>
            <a:off x="731520" y="5669280"/>
            <a:ext cx="121920" cy="1280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5" name="Text 29"/>
          <p:cNvSpPr/>
          <p:nvPr/>
        </p:nvSpPr>
        <p:spPr>
          <a:xfrm>
            <a:off x="1097280" y="5913120"/>
            <a:ext cx="10972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4800" dirty="0"/>
          </a:p>
        </p:txBody>
      </p:sp>
      <p:sp>
        <p:nvSpPr>
          <p:cNvPr id="36" name="Shape 30"/>
          <p:cNvSpPr/>
          <p:nvPr/>
        </p:nvSpPr>
        <p:spPr>
          <a:xfrm>
            <a:off x="2316480" y="5913120"/>
            <a:ext cx="792480" cy="7924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3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474976" y="6071616"/>
            <a:ext cx="487680" cy="487680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291840" y="5888736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</a:t>
            </a:r>
            <a:endParaRPr lang="en-US" sz="2133" dirty="0"/>
          </a:p>
        </p:txBody>
      </p:sp>
      <p:sp>
        <p:nvSpPr>
          <p:cNvPr id="39" name="Text 32"/>
          <p:cNvSpPr/>
          <p:nvPr/>
        </p:nvSpPr>
        <p:spPr>
          <a:xfrm>
            <a:off x="3291840" y="6400800"/>
            <a:ext cx="426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consulta de pontos de venda (PDVs).</a:t>
            </a:r>
            <a:endParaRPr lang="en-US" sz="1467" dirty="0"/>
          </a:p>
        </p:txBody>
      </p:sp>
      <p:sp>
        <p:nvSpPr>
          <p:cNvPr id="40" name="Shape 33"/>
          <p:cNvSpPr/>
          <p:nvPr/>
        </p:nvSpPr>
        <p:spPr>
          <a:xfrm>
            <a:off x="8412480" y="5669280"/>
            <a:ext cx="7315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1" name="Shape 34"/>
          <p:cNvSpPr/>
          <p:nvPr/>
        </p:nvSpPr>
        <p:spPr>
          <a:xfrm>
            <a:off x="8412480" y="5669280"/>
            <a:ext cx="121920" cy="1280160"/>
          </a:xfrm>
          <a:prstGeom prst="rect">
            <a:avLst/>
          </a:prstGeom>
          <a:solidFill>
            <a:srgbClr val="16A34A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42" name="Text 35"/>
          <p:cNvSpPr/>
          <p:nvPr/>
        </p:nvSpPr>
        <p:spPr>
          <a:xfrm>
            <a:off x="8778240" y="5913120"/>
            <a:ext cx="10972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4800" dirty="0"/>
          </a:p>
        </p:txBody>
      </p:sp>
      <p:sp>
        <p:nvSpPr>
          <p:cNvPr id="43" name="Shape 36"/>
          <p:cNvSpPr/>
          <p:nvPr/>
        </p:nvSpPr>
        <p:spPr>
          <a:xfrm>
            <a:off x="9997440" y="5913120"/>
            <a:ext cx="792480" cy="7924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4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5936" y="6071616"/>
            <a:ext cx="487680" cy="487680"/>
          </a:xfrm>
          <a:prstGeom prst="rect">
            <a:avLst/>
          </a:prstGeom>
        </p:spPr>
      </p:pic>
      <p:sp>
        <p:nvSpPr>
          <p:cNvPr id="45" name="Text 37"/>
          <p:cNvSpPr/>
          <p:nvPr/>
        </p:nvSpPr>
        <p:spPr>
          <a:xfrm>
            <a:off x="10972800" y="5888736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Acesso</a:t>
            </a:r>
            <a:endParaRPr lang="en-US" sz="2133" dirty="0"/>
          </a:p>
        </p:txBody>
      </p:sp>
      <p:sp>
        <p:nvSpPr>
          <p:cNvPr id="46" name="Text 38"/>
          <p:cNvSpPr/>
          <p:nvPr/>
        </p:nvSpPr>
        <p:spPr>
          <a:xfrm>
            <a:off x="10972800" y="6400800"/>
            <a:ext cx="426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Usuários, perfis e permissões.</a:t>
            </a:r>
            <a:endParaRPr lang="en-US" sz="1467" dirty="0"/>
          </a:p>
        </p:txBody>
      </p:sp>
      <p:sp>
        <p:nvSpPr>
          <p:cNvPr id="47" name="Shape 39"/>
          <p:cNvSpPr/>
          <p:nvPr/>
        </p:nvSpPr>
        <p:spPr>
          <a:xfrm>
            <a:off x="731520" y="7071360"/>
            <a:ext cx="7315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48" name="Shape 40"/>
          <p:cNvSpPr/>
          <p:nvPr/>
        </p:nvSpPr>
        <p:spPr>
          <a:xfrm>
            <a:off x="731520" y="7071360"/>
            <a:ext cx="121920" cy="1280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9" name="Text 41"/>
          <p:cNvSpPr/>
          <p:nvPr/>
        </p:nvSpPr>
        <p:spPr>
          <a:xfrm>
            <a:off x="1097280" y="7315200"/>
            <a:ext cx="10972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4800" dirty="0"/>
          </a:p>
        </p:txBody>
      </p:sp>
      <p:sp>
        <p:nvSpPr>
          <p:cNvPr id="50" name="Shape 42"/>
          <p:cNvSpPr/>
          <p:nvPr/>
        </p:nvSpPr>
        <p:spPr>
          <a:xfrm>
            <a:off x="2316480" y="7315200"/>
            <a:ext cx="792480" cy="7924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51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74976" y="7473696"/>
            <a:ext cx="487680" cy="487680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3291840" y="7290816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133" dirty="0"/>
          </a:p>
        </p:txBody>
      </p:sp>
      <p:sp>
        <p:nvSpPr>
          <p:cNvPr id="53" name="Text 44"/>
          <p:cNvSpPr/>
          <p:nvPr/>
        </p:nvSpPr>
        <p:spPr>
          <a:xfrm>
            <a:off x="3291840" y="7802880"/>
            <a:ext cx="426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de indicadores (em atualização).</a:t>
            </a:r>
            <a:endParaRPr lang="en-US" sz="1467" dirty="0"/>
          </a:p>
        </p:txBody>
      </p:sp>
      <p:sp>
        <p:nvSpPr>
          <p:cNvPr id="54" name="Shape 45"/>
          <p:cNvSpPr/>
          <p:nvPr/>
        </p:nvSpPr>
        <p:spPr>
          <a:xfrm>
            <a:off x="6278880" y="7290816"/>
            <a:ext cx="146304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5" name="Text 46"/>
          <p:cNvSpPr/>
          <p:nvPr/>
        </p:nvSpPr>
        <p:spPr>
          <a:xfrm>
            <a:off x="6278880" y="72908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kern="0" spc="133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ATUALIZAÇÃO</a:t>
            </a:r>
            <a:endParaRPr lang="en-US" sz="1067" dirty="0"/>
          </a:p>
        </p:txBody>
      </p:sp>
      <p:sp>
        <p:nvSpPr>
          <p:cNvPr id="56" name="Shape 47"/>
          <p:cNvSpPr/>
          <p:nvPr/>
        </p:nvSpPr>
        <p:spPr>
          <a:xfrm>
            <a:off x="8412480" y="7071360"/>
            <a:ext cx="7315200" cy="1280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25400" dir="5400000" algn="bl" rotWithShape="0">
              <a:srgbClr val="000000">
                <a:alpha val="5000"/>
              </a:srgbClr>
            </a:outerShdw>
          </a:effectLst>
        </p:spPr>
      </p:sp>
      <p:sp>
        <p:nvSpPr>
          <p:cNvPr id="57" name="Shape 48"/>
          <p:cNvSpPr/>
          <p:nvPr/>
        </p:nvSpPr>
        <p:spPr>
          <a:xfrm>
            <a:off x="8412480" y="7071360"/>
            <a:ext cx="121920" cy="1280160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58" name="Text 49"/>
          <p:cNvSpPr/>
          <p:nvPr/>
        </p:nvSpPr>
        <p:spPr>
          <a:xfrm>
            <a:off x="8778240" y="7315200"/>
            <a:ext cx="1097280" cy="792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4800" dirty="0"/>
          </a:p>
        </p:txBody>
      </p:sp>
      <p:sp>
        <p:nvSpPr>
          <p:cNvPr id="59" name="Shape 50"/>
          <p:cNvSpPr/>
          <p:nvPr/>
        </p:nvSpPr>
        <p:spPr>
          <a:xfrm>
            <a:off x="9997440" y="7315200"/>
            <a:ext cx="792480" cy="7924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6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155936" y="7473696"/>
            <a:ext cx="487680" cy="487680"/>
          </a:xfrm>
          <a:prstGeom prst="rect">
            <a:avLst/>
          </a:prstGeom>
        </p:spPr>
      </p:pic>
      <p:sp>
        <p:nvSpPr>
          <p:cNvPr id="61" name="Text 51"/>
          <p:cNvSpPr/>
          <p:nvPr/>
        </p:nvSpPr>
        <p:spPr>
          <a:xfrm>
            <a:off x="10972800" y="7290816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1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Espelho Pagamento</a:t>
            </a:r>
            <a:endParaRPr lang="en-US" sz="2133" dirty="0"/>
          </a:p>
        </p:txBody>
      </p:sp>
      <p:sp>
        <p:nvSpPr>
          <p:cNvPr id="62" name="Text 52"/>
          <p:cNvSpPr/>
          <p:nvPr/>
        </p:nvSpPr>
        <p:spPr>
          <a:xfrm>
            <a:off x="10972800" y="7802880"/>
            <a:ext cx="426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financeiro e comissões (em atualização).</a:t>
            </a:r>
            <a:endParaRPr lang="en-US" sz="1467" dirty="0"/>
          </a:p>
        </p:txBody>
      </p:sp>
      <p:sp>
        <p:nvSpPr>
          <p:cNvPr id="63" name="Shape 53"/>
          <p:cNvSpPr/>
          <p:nvPr/>
        </p:nvSpPr>
        <p:spPr>
          <a:xfrm>
            <a:off x="13959840" y="7290816"/>
            <a:ext cx="1463040" cy="36576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64" name="Text 54"/>
          <p:cNvSpPr/>
          <p:nvPr/>
        </p:nvSpPr>
        <p:spPr>
          <a:xfrm>
            <a:off x="13959840" y="7290816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67" b="1" kern="0" spc="133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ATUALIZAÇÃO</a:t>
            </a:r>
            <a:endParaRPr lang="en-US" sz="1067" dirty="0"/>
          </a:p>
        </p:txBody>
      </p:sp>
      <p:sp>
        <p:nvSpPr>
          <p:cNvPr id="65" name="Shape 55"/>
          <p:cNvSpPr/>
          <p:nvPr/>
        </p:nvSpPr>
        <p:spPr>
          <a:xfrm>
            <a:off x="0" y="9083040"/>
            <a:ext cx="16215360" cy="6096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66" name="Text 56"/>
          <p:cNvSpPr/>
          <p:nvPr/>
        </p:nvSpPr>
        <p:spPr>
          <a:xfrm>
            <a:off x="609600" y="86319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industria24h.com.br/consignado</a:t>
            </a:r>
            <a:endParaRPr lang="en-US" sz="1333" dirty="0"/>
          </a:p>
        </p:txBody>
      </p:sp>
      <p:sp>
        <p:nvSpPr>
          <p:cNvPr id="67" name="Text 57"/>
          <p:cNvSpPr/>
          <p:nvPr/>
        </p:nvSpPr>
        <p:spPr>
          <a:xfrm>
            <a:off x="14386560" y="863193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20</a:t>
            </a:r>
            <a:endParaRPr lang="en-US" sz="1333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kern="0" spc="4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01</a:t>
            </a:r>
            <a:endParaRPr lang="en-US" sz="1867" dirty="0"/>
          </a:p>
        </p:txBody>
      </p:sp>
      <p:sp>
        <p:nvSpPr>
          <p:cNvPr id="3" name="Text 1"/>
          <p:cNvSpPr/>
          <p:nvPr/>
        </p:nvSpPr>
        <p:spPr>
          <a:xfrm>
            <a:off x="609600" y="1036320"/>
            <a:ext cx="1463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Consignado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207264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Listagem, cadastro e gerenciamento do portfólio de produtos por filial.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865120"/>
            <a:ext cx="7924800" cy="554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865120"/>
            <a:ext cx="7924800" cy="5486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3023616"/>
            <a:ext cx="219456" cy="21945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3584" y="3023616"/>
            <a:ext cx="219456" cy="21945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6192" y="3023616"/>
            <a:ext cx="219456" cy="21945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0720" y="28651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Produtos Consignado    +  Cadastrar produto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1097280" y="3718560"/>
            <a:ext cx="4876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Nº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1645920" y="3718560"/>
            <a:ext cx="60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</a:t>
            </a:r>
            <a:endParaRPr lang="en-US" sz="1333" dirty="0"/>
          </a:p>
        </p:txBody>
      </p:sp>
      <p:sp>
        <p:nvSpPr>
          <p:cNvPr id="13" name="Text 11"/>
          <p:cNvSpPr/>
          <p:nvPr/>
        </p:nvSpPr>
        <p:spPr>
          <a:xfrm>
            <a:off x="2316480" y="3718560"/>
            <a:ext cx="329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5669280" y="3718560"/>
            <a:ext cx="12192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6949440" y="3718560"/>
            <a:ext cx="14630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914400" y="4306824"/>
            <a:ext cx="7559040" cy="51511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282440"/>
            <a:ext cx="4876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1645920" y="4282440"/>
            <a:ext cx="60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2316480" y="4282440"/>
            <a:ext cx="329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ALFACE AMERICANA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5669280" y="4282440"/>
            <a:ext cx="12192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</a:t>
            </a:r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6949440" y="4282440"/>
            <a:ext cx="14630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Aprovado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1097280" y="4846320"/>
            <a:ext cx="4876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1645920" y="4846320"/>
            <a:ext cx="60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253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2316480" y="4846320"/>
            <a:ext cx="329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ALFACE MIMOSA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5669280" y="4846320"/>
            <a:ext cx="12192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6949440" y="4846320"/>
            <a:ext cx="14630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Aprovado</a:t>
            </a:r>
            <a:endParaRPr lang="en-US" sz="1467" dirty="0"/>
          </a:p>
        </p:txBody>
      </p:sp>
      <p:sp>
        <p:nvSpPr>
          <p:cNvPr id="27" name="Shape 25"/>
          <p:cNvSpPr/>
          <p:nvPr/>
        </p:nvSpPr>
        <p:spPr>
          <a:xfrm>
            <a:off x="914400" y="5434584"/>
            <a:ext cx="7559040" cy="51511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5410200"/>
            <a:ext cx="4876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67" dirty="0"/>
          </a:p>
        </p:txBody>
      </p:sp>
      <p:sp>
        <p:nvSpPr>
          <p:cNvPr id="29" name="Text 27"/>
          <p:cNvSpPr/>
          <p:nvPr/>
        </p:nvSpPr>
        <p:spPr>
          <a:xfrm>
            <a:off x="1645920" y="5410200"/>
            <a:ext cx="60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2316480" y="5410200"/>
            <a:ext cx="329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COENTRO</a:t>
            </a:r>
            <a:endParaRPr lang="en-US" sz="1467" dirty="0"/>
          </a:p>
        </p:txBody>
      </p:sp>
      <p:sp>
        <p:nvSpPr>
          <p:cNvPr id="31" name="Text 29"/>
          <p:cNvSpPr/>
          <p:nvPr/>
        </p:nvSpPr>
        <p:spPr>
          <a:xfrm>
            <a:off x="5669280" y="5410200"/>
            <a:ext cx="12192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</a:t>
            </a:r>
            <a:endParaRPr lang="en-US" sz="1467" dirty="0"/>
          </a:p>
        </p:txBody>
      </p:sp>
      <p:sp>
        <p:nvSpPr>
          <p:cNvPr id="32" name="Text 30"/>
          <p:cNvSpPr/>
          <p:nvPr/>
        </p:nvSpPr>
        <p:spPr>
          <a:xfrm>
            <a:off x="6949440" y="5410200"/>
            <a:ext cx="14630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Aprovado</a:t>
            </a:r>
            <a:endParaRPr lang="en-US" sz="1467" dirty="0"/>
          </a:p>
        </p:txBody>
      </p:sp>
      <p:sp>
        <p:nvSpPr>
          <p:cNvPr id="33" name="Text 31"/>
          <p:cNvSpPr/>
          <p:nvPr/>
        </p:nvSpPr>
        <p:spPr>
          <a:xfrm>
            <a:off x="1097280" y="5974080"/>
            <a:ext cx="4876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67" dirty="0"/>
          </a:p>
        </p:txBody>
      </p:sp>
      <p:sp>
        <p:nvSpPr>
          <p:cNvPr id="34" name="Text 32"/>
          <p:cNvSpPr/>
          <p:nvPr/>
        </p:nvSpPr>
        <p:spPr>
          <a:xfrm>
            <a:off x="1645920" y="5974080"/>
            <a:ext cx="60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467" dirty="0"/>
          </a:p>
        </p:txBody>
      </p:sp>
      <p:sp>
        <p:nvSpPr>
          <p:cNvPr id="35" name="Text 33"/>
          <p:cNvSpPr/>
          <p:nvPr/>
        </p:nvSpPr>
        <p:spPr>
          <a:xfrm>
            <a:off x="2316480" y="5974080"/>
            <a:ext cx="329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JAMBU VIVA 100G</a:t>
            </a:r>
            <a:endParaRPr lang="en-US" sz="1467" dirty="0"/>
          </a:p>
        </p:txBody>
      </p:sp>
      <p:sp>
        <p:nvSpPr>
          <p:cNvPr id="36" name="Text 34"/>
          <p:cNvSpPr/>
          <p:nvPr/>
        </p:nvSpPr>
        <p:spPr>
          <a:xfrm>
            <a:off x="5669280" y="5974080"/>
            <a:ext cx="12192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</a:t>
            </a:r>
            <a:endParaRPr lang="en-US" sz="1467" dirty="0"/>
          </a:p>
        </p:txBody>
      </p:sp>
      <p:sp>
        <p:nvSpPr>
          <p:cNvPr id="37" name="Text 35"/>
          <p:cNvSpPr/>
          <p:nvPr/>
        </p:nvSpPr>
        <p:spPr>
          <a:xfrm>
            <a:off x="6949440" y="5974080"/>
            <a:ext cx="14630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Aprovado</a:t>
            </a:r>
            <a:endParaRPr lang="en-US" sz="1467" dirty="0"/>
          </a:p>
        </p:txBody>
      </p:sp>
      <p:sp>
        <p:nvSpPr>
          <p:cNvPr id="38" name="Shape 36"/>
          <p:cNvSpPr/>
          <p:nvPr/>
        </p:nvSpPr>
        <p:spPr>
          <a:xfrm>
            <a:off x="914400" y="6562344"/>
            <a:ext cx="7559040" cy="51511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" y="6537960"/>
            <a:ext cx="4876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67" dirty="0"/>
          </a:p>
        </p:txBody>
      </p:sp>
      <p:sp>
        <p:nvSpPr>
          <p:cNvPr id="40" name="Text 38"/>
          <p:cNvSpPr/>
          <p:nvPr/>
        </p:nvSpPr>
        <p:spPr>
          <a:xfrm>
            <a:off x="1645920" y="6537960"/>
            <a:ext cx="60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1467" dirty="0"/>
          </a:p>
        </p:txBody>
      </p:sp>
      <p:sp>
        <p:nvSpPr>
          <p:cNvPr id="41" name="Text 39"/>
          <p:cNvSpPr/>
          <p:nvPr/>
        </p:nvSpPr>
        <p:spPr>
          <a:xfrm>
            <a:off x="2316480" y="6537960"/>
            <a:ext cx="329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RÚCULA</a:t>
            </a:r>
            <a:endParaRPr lang="en-US" sz="1467" dirty="0"/>
          </a:p>
        </p:txBody>
      </p:sp>
      <p:sp>
        <p:nvSpPr>
          <p:cNvPr id="42" name="Text 40"/>
          <p:cNvSpPr/>
          <p:nvPr/>
        </p:nvSpPr>
        <p:spPr>
          <a:xfrm>
            <a:off x="5669280" y="6537960"/>
            <a:ext cx="12192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</a:t>
            </a:r>
            <a:endParaRPr lang="en-US" sz="1467" dirty="0"/>
          </a:p>
        </p:txBody>
      </p:sp>
      <p:sp>
        <p:nvSpPr>
          <p:cNvPr id="43" name="Text 41"/>
          <p:cNvSpPr/>
          <p:nvPr/>
        </p:nvSpPr>
        <p:spPr>
          <a:xfrm>
            <a:off x="6949440" y="6537960"/>
            <a:ext cx="14630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Aprovado</a:t>
            </a:r>
            <a:endParaRPr lang="en-US" sz="1467" dirty="0"/>
          </a:p>
        </p:txBody>
      </p:sp>
      <p:sp>
        <p:nvSpPr>
          <p:cNvPr id="44" name="Text 42"/>
          <p:cNvSpPr/>
          <p:nvPr/>
        </p:nvSpPr>
        <p:spPr>
          <a:xfrm>
            <a:off x="1097280" y="7101840"/>
            <a:ext cx="4876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67" dirty="0"/>
          </a:p>
        </p:txBody>
      </p:sp>
      <p:sp>
        <p:nvSpPr>
          <p:cNvPr id="45" name="Text 43"/>
          <p:cNvSpPr/>
          <p:nvPr/>
        </p:nvSpPr>
        <p:spPr>
          <a:xfrm>
            <a:off x="1645920" y="7101840"/>
            <a:ext cx="60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39</a:t>
            </a:r>
            <a:endParaRPr lang="en-US" sz="1467" dirty="0"/>
          </a:p>
        </p:txBody>
      </p:sp>
      <p:sp>
        <p:nvSpPr>
          <p:cNvPr id="46" name="Text 44"/>
          <p:cNvSpPr/>
          <p:nvPr/>
        </p:nvSpPr>
        <p:spPr>
          <a:xfrm>
            <a:off x="2316480" y="7101840"/>
            <a:ext cx="329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CEBOLINHA BURITI</a:t>
            </a:r>
            <a:endParaRPr lang="en-US" sz="1467" dirty="0"/>
          </a:p>
        </p:txBody>
      </p:sp>
      <p:sp>
        <p:nvSpPr>
          <p:cNvPr id="47" name="Text 45"/>
          <p:cNvSpPr/>
          <p:nvPr/>
        </p:nvSpPr>
        <p:spPr>
          <a:xfrm>
            <a:off x="5669280" y="7101840"/>
            <a:ext cx="12192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</a:t>
            </a:r>
            <a:endParaRPr lang="en-US" sz="1467" dirty="0"/>
          </a:p>
        </p:txBody>
      </p:sp>
      <p:sp>
        <p:nvSpPr>
          <p:cNvPr id="48" name="Text 46"/>
          <p:cNvSpPr/>
          <p:nvPr/>
        </p:nvSpPr>
        <p:spPr>
          <a:xfrm>
            <a:off x="6949440" y="7101840"/>
            <a:ext cx="14630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Aprovado</a:t>
            </a:r>
            <a:endParaRPr lang="en-US" sz="1467" dirty="0"/>
          </a:p>
        </p:txBody>
      </p:sp>
      <p:sp>
        <p:nvSpPr>
          <p:cNvPr id="49" name="Shape 47"/>
          <p:cNvSpPr/>
          <p:nvPr/>
        </p:nvSpPr>
        <p:spPr>
          <a:xfrm>
            <a:off x="914400" y="7690104"/>
            <a:ext cx="7559040" cy="51511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97280" y="7665720"/>
            <a:ext cx="4876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67" dirty="0"/>
          </a:p>
        </p:txBody>
      </p:sp>
      <p:sp>
        <p:nvSpPr>
          <p:cNvPr id="51" name="Text 49"/>
          <p:cNvSpPr/>
          <p:nvPr/>
        </p:nvSpPr>
        <p:spPr>
          <a:xfrm>
            <a:off x="1645920" y="7665720"/>
            <a:ext cx="60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1467" dirty="0"/>
          </a:p>
        </p:txBody>
      </p:sp>
      <p:sp>
        <p:nvSpPr>
          <p:cNvPr id="52" name="Text 50"/>
          <p:cNvSpPr/>
          <p:nvPr/>
        </p:nvSpPr>
        <p:spPr>
          <a:xfrm>
            <a:off x="2316480" y="7665720"/>
            <a:ext cx="32918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SALSA HIDROP. BURITI</a:t>
            </a:r>
            <a:endParaRPr lang="en-US" sz="1467" dirty="0"/>
          </a:p>
        </p:txBody>
      </p:sp>
      <p:sp>
        <p:nvSpPr>
          <p:cNvPr id="53" name="Text 51"/>
          <p:cNvSpPr/>
          <p:nvPr/>
        </p:nvSpPr>
        <p:spPr>
          <a:xfrm>
            <a:off x="5669280" y="7665720"/>
            <a:ext cx="12192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</a:t>
            </a:r>
            <a:endParaRPr lang="en-US" sz="1467" dirty="0"/>
          </a:p>
        </p:txBody>
      </p:sp>
      <p:sp>
        <p:nvSpPr>
          <p:cNvPr id="54" name="Text 52"/>
          <p:cNvSpPr/>
          <p:nvPr/>
        </p:nvSpPr>
        <p:spPr>
          <a:xfrm>
            <a:off x="6949440" y="7665720"/>
            <a:ext cx="14630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Aprovado</a:t>
            </a:r>
            <a:endParaRPr lang="en-US" sz="1467" dirty="0"/>
          </a:p>
        </p:txBody>
      </p:sp>
      <p:sp>
        <p:nvSpPr>
          <p:cNvPr id="55" name="Shape 53"/>
          <p:cNvSpPr/>
          <p:nvPr/>
        </p:nvSpPr>
        <p:spPr>
          <a:xfrm>
            <a:off x="9022080" y="2865120"/>
            <a:ext cx="6461760" cy="1723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22080" y="2865120"/>
            <a:ext cx="646176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65920" y="3084576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5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264" y="3169920"/>
            <a:ext cx="316992" cy="316992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9936480" y="3048000"/>
            <a:ext cx="536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esta tela?</a:t>
            </a:r>
            <a:endParaRPr lang="en-US" sz="1867" dirty="0"/>
          </a:p>
        </p:txBody>
      </p:sp>
      <p:sp>
        <p:nvSpPr>
          <p:cNvPr id="60" name="Text 57"/>
          <p:cNvSpPr/>
          <p:nvPr/>
        </p:nvSpPr>
        <p:spPr>
          <a:xfrm>
            <a:off x="9387840" y="3621024"/>
            <a:ext cx="591312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Exibe todos os produtos da filial logada.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Permite pesquisar, filtrar e editar itens.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Gestão completa do portfólio.</a:t>
            </a:r>
            <a:endParaRPr lang="en-US" sz="1400" dirty="0"/>
          </a:p>
        </p:txBody>
      </p:sp>
      <p:sp>
        <p:nvSpPr>
          <p:cNvPr id="61" name="Shape 58"/>
          <p:cNvSpPr/>
          <p:nvPr/>
        </p:nvSpPr>
        <p:spPr>
          <a:xfrm>
            <a:off x="9022080" y="4807712"/>
            <a:ext cx="6461760" cy="1723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9022080" y="4807712"/>
            <a:ext cx="646176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265920" y="5027168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6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1264" y="5112512"/>
            <a:ext cx="316992" cy="316992"/>
          </a:xfrm>
          <a:prstGeom prst="rect">
            <a:avLst/>
          </a:prstGeom>
        </p:spPr>
      </p:pic>
      <p:sp>
        <p:nvSpPr>
          <p:cNvPr id="65" name="Text 61"/>
          <p:cNvSpPr/>
          <p:nvPr/>
        </p:nvSpPr>
        <p:spPr>
          <a:xfrm>
            <a:off x="9936480" y="4990592"/>
            <a:ext cx="536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Ações disponíveis</a:t>
            </a:r>
            <a:endParaRPr lang="en-US" sz="1867" dirty="0"/>
          </a:p>
        </p:txBody>
      </p:sp>
      <p:sp>
        <p:nvSpPr>
          <p:cNvPr id="66" name="Text 62"/>
          <p:cNvSpPr/>
          <p:nvPr/>
        </p:nvSpPr>
        <p:spPr>
          <a:xfrm>
            <a:off x="9387840" y="5563616"/>
            <a:ext cx="591312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Editar — alterar dados do produto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Configurar percentuais e preços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Excluir produto da lista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+ Cadastrar produto (novo item)</a:t>
            </a:r>
            <a:endParaRPr lang="en-US" sz="1267" dirty="0"/>
          </a:p>
        </p:txBody>
      </p:sp>
      <p:sp>
        <p:nvSpPr>
          <p:cNvPr id="67" name="Shape 63"/>
          <p:cNvSpPr/>
          <p:nvPr/>
        </p:nvSpPr>
        <p:spPr>
          <a:xfrm>
            <a:off x="9022080" y="6750304"/>
            <a:ext cx="6461760" cy="1723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9022080" y="6750304"/>
            <a:ext cx="646176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9265920" y="6969760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7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1264" y="7055104"/>
            <a:ext cx="316992" cy="316992"/>
          </a:xfrm>
          <a:prstGeom prst="rect">
            <a:avLst/>
          </a:prstGeom>
        </p:spPr>
      </p:pic>
      <p:sp>
        <p:nvSpPr>
          <p:cNvPr id="71" name="Text 66"/>
          <p:cNvSpPr/>
          <p:nvPr/>
        </p:nvSpPr>
        <p:spPr>
          <a:xfrm>
            <a:off x="9936480" y="6933184"/>
            <a:ext cx="536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 de busca</a:t>
            </a:r>
            <a:endParaRPr lang="en-US" sz="1867" dirty="0"/>
          </a:p>
        </p:txBody>
      </p:sp>
      <p:sp>
        <p:nvSpPr>
          <p:cNvPr id="72" name="Text 67"/>
          <p:cNvSpPr/>
          <p:nvPr/>
        </p:nvSpPr>
        <p:spPr>
          <a:xfrm>
            <a:off x="9387840" y="7506208"/>
            <a:ext cx="591312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Use o filtro 'Produtos' no topo da tela.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Pesquisa por nome do produto.</a:t>
            </a:r>
            <a:endParaRPr lang="en-US" sz="1400" dirty="0"/>
          </a:p>
        </p:txBody>
      </p:sp>
      <p:sp>
        <p:nvSpPr>
          <p:cNvPr id="73" name="Shape 68"/>
          <p:cNvSpPr/>
          <p:nvPr/>
        </p:nvSpPr>
        <p:spPr>
          <a:xfrm>
            <a:off x="0" y="9083040"/>
            <a:ext cx="16215360" cy="6096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74" name="Text 69"/>
          <p:cNvSpPr/>
          <p:nvPr/>
        </p:nvSpPr>
        <p:spPr>
          <a:xfrm>
            <a:off x="609600" y="86319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industria24h.com.br/consignado</a:t>
            </a:r>
            <a:endParaRPr lang="en-US" sz="1333" dirty="0"/>
          </a:p>
        </p:txBody>
      </p:sp>
      <p:sp>
        <p:nvSpPr>
          <p:cNvPr id="75" name="Text 70"/>
          <p:cNvSpPr/>
          <p:nvPr/>
        </p:nvSpPr>
        <p:spPr>
          <a:xfrm>
            <a:off x="14386560" y="863193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20</a:t>
            </a:r>
            <a:endParaRPr lang="en-US" sz="1333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kern="0" spc="4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02</a:t>
            </a:r>
            <a:endParaRPr lang="en-US" sz="1867" dirty="0"/>
          </a:p>
        </p:txBody>
      </p:sp>
      <p:sp>
        <p:nvSpPr>
          <p:cNvPr id="3" name="Text 1"/>
          <p:cNvSpPr/>
          <p:nvPr/>
        </p:nvSpPr>
        <p:spPr>
          <a:xfrm>
            <a:off x="609600" y="1036320"/>
            <a:ext cx="1463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Lançamento de Pedidos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207264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Avarias, pedidos e contagem de estoque feitos diretamente no PDV.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865120"/>
            <a:ext cx="7924800" cy="554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865120"/>
            <a:ext cx="7924800" cy="5486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3023616"/>
            <a:ext cx="219456" cy="21945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3584" y="3023616"/>
            <a:ext cx="219456" cy="21945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6192" y="3023616"/>
            <a:ext cx="219456" cy="21945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0720" y="28651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Avarias, Pedidos e Trocas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1097280" y="3718560"/>
            <a:ext cx="170688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Promotor: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2865120" y="3718560"/>
            <a:ext cx="548640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Karla Nunes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914400" y="4494784"/>
            <a:ext cx="7559040" cy="70307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4470400"/>
            <a:ext cx="170688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PDV: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2865120" y="4470400"/>
            <a:ext cx="548640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10 - NOVA ERA - TORQUATO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097280" y="5222240"/>
            <a:ext cx="170688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inicial: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2865120" y="5222240"/>
            <a:ext cx="548640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08/05/2026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914400" y="5998464"/>
            <a:ext cx="7559040" cy="70307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5974080"/>
            <a:ext cx="170688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final: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2865120" y="5974080"/>
            <a:ext cx="548640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08/05/2026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097280" y="6725920"/>
            <a:ext cx="719328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Lançar Avarias e Pedidos</a:t>
            </a:r>
            <a:endParaRPr lang="en-US" sz="1733" dirty="0"/>
          </a:p>
        </p:txBody>
      </p:sp>
      <p:sp>
        <p:nvSpPr>
          <p:cNvPr id="22" name="Shape 20"/>
          <p:cNvSpPr/>
          <p:nvPr/>
        </p:nvSpPr>
        <p:spPr>
          <a:xfrm>
            <a:off x="914400" y="7502144"/>
            <a:ext cx="7559040" cy="70307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97280" y="7477760"/>
            <a:ext cx="719328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▾  Exportar avarias em Excel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022080" y="2865120"/>
            <a:ext cx="6461760" cy="2694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22080" y="2865120"/>
            <a:ext cx="646176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9265920" y="3084576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2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264" y="3169920"/>
            <a:ext cx="316992" cy="316992"/>
          </a:xfrm>
          <a:prstGeom prst="rect">
            <a:avLst/>
          </a:prstGeom>
        </p:spPr>
      </p:pic>
      <p:sp>
        <p:nvSpPr>
          <p:cNvPr id="28" name="Text 25"/>
          <p:cNvSpPr/>
          <p:nvPr/>
        </p:nvSpPr>
        <p:spPr>
          <a:xfrm>
            <a:off x="9936480" y="3048000"/>
            <a:ext cx="536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867" dirty="0"/>
          </a:p>
        </p:txBody>
      </p:sp>
      <p:sp>
        <p:nvSpPr>
          <p:cNvPr id="29" name="Text 26"/>
          <p:cNvSpPr/>
          <p:nvPr/>
        </p:nvSpPr>
        <p:spPr>
          <a:xfrm>
            <a:off x="9387840" y="3621024"/>
            <a:ext cx="591312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1. Selecione o promotor responsável.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2. Selecione o PDV (loja) visitado.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3. Defina o período (data inicial e final).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4. Clique em 'Lançar Avarias e Pedidos'.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5. Use 'Exportar Excel' para o relatório.</a:t>
            </a:r>
            <a:endParaRPr lang="en-US" sz="1267" dirty="0"/>
          </a:p>
        </p:txBody>
      </p:sp>
      <p:sp>
        <p:nvSpPr>
          <p:cNvPr id="30" name="Shape 27"/>
          <p:cNvSpPr/>
          <p:nvPr/>
        </p:nvSpPr>
        <p:spPr>
          <a:xfrm>
            <a:off x="9022080" y="5779008"/>
            <a:ext cx="6461760" cy="269443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9022080" y="5779008"/>
            <a:ext cx="646176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2" name="Shape 29"/>
          <p:cNvSpPr/>
          <p:nvPr/>
        </p:nvSpPr>
        <p:spPr>
          <a:xfrm>
            <a:off x="9265920" y="5998464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1264" y="6083808"/>
            <a:ext cx="316992" cy="316992"/>
          </a:xfrm>
          <a:prstGeom prst="rect">
            <a:avLst/>
          </a:prstGeom>
        </p:spPr>
      </p:pic>
      <p:sp>
        <p:nvSpPr>
          <p:cNvPr id="34" name="Text 30"/>
          <p:cNvSpPr/>
          <p:nvPr/>
        </p:nvSpPr>
        <p:spPr>
          <a:xfrm>
            <a:off x="9936480" y="5961888"/>
            <a:ext cx="536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é registrado?</a:t>
            </a:r>
            <a:endParaRPr lang="en-US" sz="1867" dirty="0"/>
          </a:p>
        </p:txBody>
      </p:sp>
      <p:sp>
        <p:nvSpPr>
          <p:cNvPr id="35" name="Text 31"/>
          <p:cNvSpPr/>
          <p:nvPr/>
        </p:nvSpPr>
        <p:spPr>
          <a:xfrm>
            <a:off x="9387840" y="6534912"/>
            <a:ext cx="5913120" cy="18653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Avarias (produtos danificados ou vencidos)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Pedidos de reposição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Contagem de estoque do dia</a:t>
            </a:r>
            <a:endParaRPr lang="en-US" sz="1400" dirty="0"/>
          </a:p>
        </p:txBody>
      </p:sp>
      <p:sp>
        <p:nvSpPr>
          <p:cNvPr id="36" name="Shape 32"/>
          <p:cNvSpPr/>
          <p:nvPr/>
        </p:nvSpPr>
        <p:spPr>
          <a:xfrm>
            <a:off x="1158240" y="6766560"/>
            <a:ext cx="6949440" cy="670560"/>
          </a:xfrm>
          <a:prstGeom prst="rect">
            <a:avLst/>
          </a:prstGeom>
          <a:solidFill>
            <a:srgbClr val="1B5E20"/>
          </a:solidFill>
          <a:ln w="12700">
            <a:solidFill>
              <a:srgbClr val="1B5E20"/>
            </a:solidFill>
            <a:prstDash val="solid"/>
          </a:ln>
        </p:spPr>
      </p:sp>
      <p:sp>
        <p:nvSpPr>
          <p:cNvPr id="37" name="Text 33"/>
          <p:cNvSpPr/>
          <p:nvPr/>
        </p:nvSpPr>
        <p:spPr>
          <a:xfrm>
            <a:off x="1158240" y="6766560"/>
            <a:ext cx="694944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867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Lançar Avarias e Pedidos</a:t>
            </a:r>
            <a:endParaRPr lang="en-US" sz="1867" dirty="0"/>
          </a:p>
        </p:txBody>
      </p:sp>
      <p:sp>
        <p:nvSpPr>
          <p:cNvPr id="38" name="Shape 34"/>
          <p:cNvSpPr/>
          <p:nvPr/>
        </p:nvSpPr>
        <p:spPr>
          <a:xfrm>
            <a:off x="0" y="9083040"/>
            <a:ext cx="16215360" cy="6096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9" name="Text 35"/>
          <p:cNvSpPr/>
          <p:nvPr/>
        </p:nvSpPr>
        <p:spPr>
          <a:xfrm>
            <a:off x="609600" y="86319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industria24h.com.br/consignado</a:t>
            </a:r>
            <a:endParaRPr lang="en-US" sz="1333" dirty="0"/>
          </a:p>
        </p:txBody>
      </p:sp>
      <p:sp>
        <p:nvSpPr>
          <p:cNvPr id="40" name="Text 36"/>
          <p:cNvSpPr/>
          <p:nvPr/>
        </p:nvSpPr>
        <p:spPr>
          <a:xfrm>
            <a:off x="14386560" y="863193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20</a:t>
            </a:r>
            <a:endParaRPr lang="en-US" sz="1333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kern="0" spc="4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03</a:t>
            </a:r>
            <a:endParaRPr lang="en-US" sz="1867" dirty="0"/>
          </a:p>
        </p:txBody>
      </p:sp>
      <p:sp>
        <p:nvSpPr>
          <p:cNvPr id="3" name="Text 1"/>
          <p:cNvSpPr/>
          <p:nvPr/>
        </p:nvSpPr>
        <p:spPr>
          <a:xfrm>
            <a:off x="609600" y="1036320"/>
            <a:ext cx="1463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Aprovar Pedidos e Trocas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207264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visitas dos promotores: estoques, avarias, pedidos e trocas.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865120"/>
            <a:ext cx="7924800" cy="554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865120"/>
            <a:ext cx="7924800" cy="5486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3023616"/>
            <a:ext cx="219456" cy="21945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3584" y="3023616"/>
            <a:ext cx="219456" cy="21945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6192" y="3023616"/>
            <a:ext cx="219456" cy="21945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0720" y="28651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de Visitas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1097280" y="3718560"/>
            <a:ext cx="67056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3718560"/>
            <a:ext cx="225552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145280" y="3718560"/>
            <a:ext cx="54864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4880" y="3718560"/>
            <a:ext cx="60960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AVAR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425440" y="3718560"/>
            <a:ext cx="54864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035040" y="3718560"/>
            <a:ext cx="73152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TROCA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27520" y="3718560"/>
            <a:ext cx="170688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14400" y="4494784"/>
            <a:ext cx="7559040" cy="70307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97280" y="4470400"/>
            <a:ext cx="67056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1828800" y="4470400"/>
            <a:ext cx="225552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AGRIÃO BURITI</a:t>
            </a:r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4145280" y="4470400"/>
            <a:ext cx="54864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4754880" y="4470400"/>
            <a:ext cx="60960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5425440" y="4470400"/>
            <a:ext cx="54864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6035040" y="4470400"/>
            <a:ext cx="73152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67" dirty="0"/>
          </a:p>
        </p:txBody>
      </p:sp>
      <p:sp>
        <p:nvSpPr>
          <p:cNvPr id="25" name="Text 23"/>
          <p:cNvSpPr/>
          <p:nvPr/>
        </p:nvSpPr>
        <p:spPr>
          <a:xfrm>
            <a:off x="6827520" y="4470400"/>
            <a:ext cx="170688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PONTA NEGRA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5222240"/>
            <a:ext cx="67056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67" dirty="0"/>
          </a:p>
        </p:txBody>
      </p:sp>
      <p:sp>
        <p:nvSpPr>
          <p:cNvPr id="27" name="Text 25"/>
          <p:cNvSpPr/>
          <p:nvPr/>
        </p:nvSpPr>
        <p:spPr>
          <a:xfrm>
            <a:off x="1828800" y="5222240"/>
            <a:ext cx="225552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AGRIÃO BURITI</a:t>
            </a:r>
            <a:endParaRPr lang="en-US" sz="1467" dirty="0"/>
          </a:p>
        </p:txBody>
      </p:sp>
      <p:sp>
        <p:nvSpPr>
          <p:cNvPr id="28" name="Text 26"/>
          <p:cNvSpPr/>
          <p:nvPr/>
        </p:nvSpPr>
        <p:spPr>
          <a:xfrm>
            <a:off x="4145280" y="5222240"/>
            <a:ext cx="54864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67" dirty="0"/>
          </a:p>
        </p:txBody>
      </p:sp>
      <p:sp>
        <p:nvSpPr>
          <p:cNvPr id="29" name="Text 27"/>
          <p:cNvSpPr/>
          <p:nvPr/>
        </p:nvSpPr>
        <p:spPr>
          <a:xfrm>
            <a:off x="4754880" y="5222240"/>
            <a:ext cx="60960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5425440" y="5222240"/>
            <a:ext cx="54864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67" dirty="0"/>
          </a:p>
        </p:txBody>
      </p:sp>
      <p:sp>
        <p:nvSpPr>
          <p:cNvPr id="31" name="Text 29"/>
          <p:cNvSpPr/>
          <p:nvPr/>
        </p:nvSpPr>
        <p:spPr>
          <a:xfrm>
            <a:off x="6035040" y="5222240"/>
            <a:ext cx="73152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67" dirty="0"/>
          </a:p>
        </p:txBody>
      </p:sp>
      <p:sp>
        <p:nvSpPr>
          <p:cNvPr id="32" name="Text 30"/>
          <p:cNvSpPr/>
          <p:nvPr/>
        </p:nvSpPr>
        <p:spPr>
          <a:xfrm>
            <a:off x="6827520" y="5222240"/>
            <a:ext cx="170688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10 - TORQUATO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914400" y="5998464"/>
            <a:ext cx="7559040" cy="70307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5974080"/>
            <a:ext cx="67056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67" dirty="0"/>
          </a:p>
        </p:txBody>
      </p:sp>
      <p:sp>
        <p:nvSpPr>
          <p:cNvPr id="35" name="Text 33"/>
          <p:cNvSpPr/>
          <p:nvPr/>
        </p:nvSpPr>
        <p:spPr>
          <a:xfrm>
            <a:off x="1828800" y="5974080"/>
            <a:ext cx="225552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AGRIÃO BURITI</a:t>
            </a:r>
            <a:endParaRPr lang="en-US" sz="1467" dirty="0"/>
          </a:p>
        </p:txBody>
      </p:sp>
      <p:sp>
        <p:nvSpPr>
          <p:cNvPr id="36" name="Text 34"/>
          <p:cNvSpPr/>
          <p:nvPr/>
        </p:nvSpPr>
        <p:spPr>
          <a:xfrm>
            <a:off x="4145280" y="5974080"/>
            <a:ext cx="54864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67" dirty="0"/>
          </a:p>
        </p:txBody>
      </p:sp>
      <p:sp>
        <p:nvSpPr>
          <p:cNvPr id="37" name="Text 35"/>
          <p:cNvSpPr/>
          <p:nvPr/>
        </p:nvSpPr>
        <p:spPr>
          <a:xfrm>
            <a:off x="4754880" y="5974080"/>
            <a:ext cx="60960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67" dirty="0"/>
          </a:p>
        </p:txBody>
      </p:sp>
      <p:sp>
        <p:nvSpPr>
          <p:cNvPr id="38" name="Text 36"/>
          <p:cNvSpPr/>
          <p:nvPr/>
        </p:nvSpPr>
        <p:spPr>
          <a:xfrm>
            <a:off x="5425440" y="5974080"/>
            <a:ext cx="54864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67" dirty="0"/>
          </a:p>
        </p:txBody>
      </p:sp>
      <p:sp>
        <p:nvSpPr>
          <p:cNvPr id="39" name="Text 37"/>
          <p:cNvSpPr/>
          <p:nvPr/>
        </p:nvSpPr>
        <p:spPr>
          <a:xfrm>
            <a:off x="6035040" y="5974080"/>
            <a:ext cx="73152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Viva</a:t>
            </a:r>
            <a:endParaRPr lang="en-US" sz="1467" dirty="0"/>
          </a:p>
        </p:txBody>
      </p:sp>
      <p:sp>
        <p:nvSpPr>
          <p:cNvPr id="40" name="Text 38"/>
          <p:cNvSpPr/>
          <p:nvPr/>
        </p:nvSpPr>
        <p:spPr>
          <a:xfrm>
            <a:off x="6827520" y="5974080"/>
            <a:ext cx="170688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56 - COROADO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1097280" y="6725920"/>
            <a:ext cx="67056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67" dirty="0"/>
          </a:p>
        </p:txBody>
      </p:sp>
      <p:sp>
        <p:nvSpPr>
          <p:cNvPr id="42" name="Text 40"/>
          <p:cNvSpPr/>
          <p:nvPr/>
        </p:nvSpPr>
        <p:spPr>
          <a:xfrm>
            <a:off x="1828800" y="6725920"/>
            <a:ext cx="225552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AGRIÃO BURITI</a:t>
            </a:r>
            <a:endParaRPr lang="en-US" sz="1467" dirty="0"/>
          </a:p>
        </p:txBody>
      </p:sp>
      <p:sp>
        <p:nvSpPr>
          <p:cNvPr id="43" name="Text 41"/>
          <p:cNvSpPr/>
          <p:nvPr/>
        </p:nvSpPr>
        <p:spPr>
          <a:xfrm>
            <a:off x="4145280" y="6725920"/>
            <a:ext cx="54864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67" dirty="0"/>
          </a:p>
        </p:txBody>
      </p:sp>
      <p:sp>
        <p:nvSpPr>
          <p:cNvPr id="44" name="Text 42"/>
          <p:cNvSpPr/>
          <p:nvPr/>
        </p:nvSpPr>
        <p:spPr>
          <a:xfrm>
            <a:off x="4754880" y="6725920"/>
            <a:ext cx="60960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67" dirty="0"/>
          </a:p>
        </p:txBody>
      </p:sp>
      <p:sp>
        <p:nvSpPr>
          <p:cNvPr id="45" name="Text 43"/>
          <p:cNvSpPr/>
          <p:nvPr/>
        </p:nvSpPr>
        <p:spPr>
          <a:xfrm>
            <a:off x="5425440" y="6725920"/>
            <a:ext cx="54864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67" dirty="0"/>
          </a:p>
        </p:txBody>
      </p:sp>
      <p:sp>
        <p:nvSpPr>
          <p:cNvPr id="46" name="Text 44"/>
          <p:cNvSpPr/>
          <p:nvPr/>
        </p:nvSpPr>
        <p:spPr>
          <a:xfrm>
            <a:off x="6035040" y="6725920"/>
            <a:ext cx="73152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Viva</a:t>
            </a:r>
            <a:endParaRPr lang="en-US" sz="1467" dirty="0"/>
          </a:p>
        </p:txBody>
      </p:sp>
      <p:sp>
        <p:nvSpPr>
          <p:cNvPr id="47" name="Text 45"/>
          <p:cNvSpPr/>
          <p:nvPr/>
        </p:nvSpPr>
        <p:spPr>
          <a:xfrm>
            <a:off x="6827520" y="6725920"/>
            <a:ext cx="170688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53 - CIDADE NOVA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914400" y="7502144"/>
            <a:ext cx="7559040" cy="70307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097280" y="7477760"/>
            <a:ext cx="67056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67" dirty="0"/>
          </a:p>
        </p:txBody>
      </p:sp>
      <p:sp>
        <p:nvSpPr>
          <p:cNvPr id="50" name="Text 48"/>
          <p:cNvSpPr/>
          <p:nvPr/>
        </p:nvSpPr>
        <p:spPr>
          <a:xfrm>
            <a:off x="1828800" y="7477760"/>
            <a:ext cx="225552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AGRIÃO BURITI</a:t>
            </a:r>
            <a:endParaRPr lang="en-US" sz="1467" dirty="0"/>
          </a:p>
        </p:txBody>
      </p:sp>
      <p:sp>
        <p:nvSpPr>
          <p:cNvPr id="51" name="Text 49"/>
          <p:cNvSpPr/>
          <p:nvPr/>
        </p:nvSpPr>
        <p:spPr>
          <a:xfrm>
            <a:off x="4145280" y="7477760"/>
            <a:ext cx="54864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67" dirty="0"/>
          </a:p>
        </p:txBody>
      </p:sp>
      <p:sp>
        <p:nvSpPr>
          <p:cNvPr id="52" name="Text 50"/>
          <p:cNvSpPr/>
          <p:nvPr/>
        </p:nvSpPr>
        <p:spPr>
          <a:xfrm>
            <a:off x="4754880" y="7477760"/>
            <a:ext cx="60960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67" dirty="0"/>
          </a:p>
        </p:txBody>
      </p:sp>
      <p:sp>
        <p:nvSpPr>
          <p:cNvPr id="53" name="Text 51"/>
          <p:cNvSpPr/>
          <p:nvPr/>
        </p:nvSpPr>
        <p:spPr>
          <a:xfrm>
            <a:off x="5425440" y="7477760"/>
            <a:ext cx="54864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</a:t>
            </a:r>
            <a:endParaRPr lang="en-US" sz="1467" dirty="0"/>
          </a:p>
        </p:txBody>
      </p:sp>
      <p:sp>
        <p:nvSpPr>
          <p:cNvPr id="54" name="Text 52"/>
          <p:cNvSpPr/>
          <p:nvPr/>
        </p:nvSpPr>
        <p:spPr>
          <a:xfrm>
            <a:off x="6035040" y="7477760"/>
            <a:ext cx="73152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Viva</a:t>
            </a:r>
            <a:endParaRPr lang="en-US" sz="1467" dirty="0"/>
          </a:p>
        </p:txBody>
      </p:sp>
      <p:sp>
        <p:nvSpPr>
          <p:cNvPr id="55" name="Text 53"/>
          <p:cNvSpPr/>
          <p:nvPr/>
        </p:nvSpPr>
        <p:spPr>
          <a:xfrm>
            <a:off x="6827520" y="7477760"/>
            <a:ext cx="1706880" cy="75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57 - TORRES 2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9022080" y="2865120"/>
            <a:ext cx="6461760" cy="1723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022080" y="2865120"/>
            <a:ext cx="646176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9265920" y="3084576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5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264" y="3169920"/>
            <a:ext cx="316992" cy="316992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9936480" y="3048000"/>
            <a:ext cx="536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Filtros disponíveis</a:t>
            </a:r>
            <a:endParaRPr lang="en-US" sz="1867" dirty="0"/>
          </a:p>
        </p:txBody>
      </p:sp>
      <p:sp>
        <p:nvSpPr>
          <p:cNvPr id="61" name="Text 58"/>
          <p:cNvSpPr/>
          <p:nvPr/>
        </p:nvSpPr>
        <p:spPr>
          <a:xfrm>
            <a:off x="9387840" y="3621024"/>
            <a:ext cx="591312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 início e fim do período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Filtro por promotor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Filtro por loja (PDV)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Avulsas — transferências fora do ciclo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Exportação para Excel</a:t>
            </a:r>
            <a:endParaRPr lang="en-US" sz="1267" dirty="0"/>
          </a:p>
        </p:txBody>
      </p:sp>
      <p:sp>
        <p:nvSpPr>
          <p:cNvPr id="62" name="Shape 59"/>
          <p:cNvSpPr/>
          <p:nvPr/>
        </p:nvSpPr>
        <p:spPr>
          <a:xfrm>
            <a:off x="9022080" y="4807712"/>
            <a:ext cx="6461760" cy="1723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022080" y="4807712"/>
            <a:ext cx="646176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64" name="Shape 61"/>
          <p:cNvSpPr/>
          <p:nvPr/>
        </p:nvSpPr>
        <p:spPr>
          <a:xfrm>
            <a:off x="9265920" y="5027168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6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1264" y="5112512"/>
            <a:ext cx="316992" cy="316992"/>
          </a:xfrm>
          <a:prstGeom prst="rect">
            <a:avLst/>
          </a:prstGeom>
        </p:spPr>
      </p:pic>
      <p:sp>
        <p:nvSpPr>
          <p:cNvPr id="66" name="Text 62"/>
          <p:cNvSpPr/>
          <p:nvPr/>
        </p:nvSpPr>
        <p:spPr>
          <a:xfrm>
            <a:off x="9936480" y="4990592"/>
            <a:ext cx="536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Legenda de cores</a:t>
            </a:r>
            <a:endParaRPr lang="en-US" sz="1867" dirty="0"/>
          </a:p>
        </p:txBody>
      </p:sp>
      <p:sp>
        <p:nvSpPr>
          <p:cNvPr id="67" name="Text 63"/>
          <p:cNvSpPr/>
          <p:nvPr/>
        </p:nvSpPr>
        <p:spPr>
          <a:xfrm>
            <a:off x="9387840" y="5563616"/>
            <a:ext cx="591312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Roxo — transferências avulsas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Verde — transações do supervisor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Sem destaque — pedidos regulares</a:t>
            </a:r>
            <a:endParaRPr lang="en-US" sz="1400" dirty="0"/>
          </a:p>
        </p:txBody>
      </p:sp>
      <p:sp>
        <p:nvSpPr>
          <p:cNvPr id="68" name="Shape 64"/>
          <p:cNvSpPr/>
          <p:nvPr/>
        </p:nvSpPr>
        <p:spPr>
          <a:xfrm>
            <a:off x="9022080" y="6750304"/>
            <a:ext cx="6461760" cy="1723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9022080" y="6750304"/>
            <a:ext cx="646176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70" name="Shape 66"/>
          <p:cNvSpPr/>
          <p:nvPr/>
        </p:nvSpPr>
        <p:spPr>
          <a:xfrm>
            <a:off x="9265920" y="6969760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7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1264" y="7055104"/>
            <a:ext cx="316992" cy="316992"/>
          </a:xfrm>
          <a:prstGeom prst="rect">
            <a:avLst/>
          </a:prstGeom>
        </p:spPr>
      </p:pic>
      <p:sp>
        <p:nvSpPr>
          <p:cNvPr id="72" name="Text 67"/>
          <p:cNvSpPr/>
          <p:nvPr/>
        </p:nvSpPr>
        <p:spPr>
          <a:xfrm>
            <a:off x="9936480" y="6933184"/>
            <a:ext cx="536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Aprovação</a:t>
            </a:r>
            <a:endParaRPr lang="en-US" sz="1867" dirty="0"/>
          </a:p>
        </p:txBody>
      </p:sp>
      <p:sp>
        <p:nvSpPr>
          <p:cNvPr id="73" name="Text 68"/>
          <p:cNvSpPr/>
          <p:nvPr/>
        </p:nvSpPr>
        <p:spPr>
          <a:xfrm>
            <a:off x="9387840" y="7506208"/>
            <a:ext cx="591312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Clique em qualquer linha da tabela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Abre o modal de aprovação/conferência</a:t>
            </a:r>
            <a:endParaRPr lang="en-US" sz="1400" dirty="0"/>
          </a:p>
        </p:txBody>
      </p:sp>
      <p:sp>
        <p:nvSpPr>
          <p:cNvPr id="74" name="Shape 69"/>
          <p:cNvSpPr/>
          <p:nvPr/>
        </p:nvSpPr>
        <p:spPr>
          <a:xfrm>
            <a:off x="0" y="9083040"/>
            <a:ext cx="16215360" cy="6096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75" name="Text 70"/>
          <p:cNvSpPr/>
          <p:nvPr/>
        </p:nvSpPr>
        <p:spPr>
          <a:xfrm>
            <a:off x="609600" y="86319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industria24h.com.br/consignado</a:t>
            </a:r>
            <a:endParaRPr lang="en-US" sz="1333" dirty="0"/>
          </a:p>
        </p:txBody>
      </p:sp>
      <p:sp>
        <p:nvSpPr>
          <p:cNvPr id="76" name="Text 71"/>
          <p:cNvSpPr/>
          <p:nvPr/>
        </p:nvSpPr>
        <p:spPr>
          <a:xfrm>
            <a:off x="14386560" y="863193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20</a:t>
            </a:r>
            <a:endParaRPr lang="en-US" sz="1333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kern="0" spc="4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04</a:t>
            </a:r>
            <a:endParaRPr lang="en-US" sz="1867" dirty="0"/>
          </a:p>
        </p:txBody>
      </p:sp>
      <p:sp>
        <p:nvSpPr>
          <p:cNvPr id="3" name="Text 1"/>
          <p:cNvSpPr/>
          <p:nvPr/>
        </p:nvSpPr>
        <p:spPr>
          <a:xfrm>
            <a:off x="609600" y="1036320"/>
            <a:ext cx="1463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207264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Promoções configuráveis por produto, com período de vigência e quantidade mínima.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865120"/>
            <a:ext cx="7924800" cy="554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865120"/>
            <a:ext cx="7924800" cy="5486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3023616"/>
            <a:ext cx="219456" cy="21945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3584" y="3023616"/>
            <a:ext cx="219456" cy="21945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6192" y="3023616"/>
            <a:ext cx="219456" cy="21945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0720" y="28651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Ofertas    +  Cadastrar Oferta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1097280" y="3718560"/>
            <a:ext cx="2072640" cy="6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</a:t>
            </a:r>
            <a:endParaRPr lang="en-US" sz="1333" dirty="0"/>
          </a:p>
        </p:txBody>
      </p:sp>
      <p:sp>
        <p:nvSpPr>
          <p:cNvPr id="12" name="Text 10"/>
          <p:cNvSpPr/>
          <p:nvPr/>
        </p:nvSpPr>
        <p:spPr>
          <a:xfrm>
            <a:off x="3230880" y="3718560"/>
            <a:ext cx="1828800" cy="6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</a:t>
            </a:r>
            <a:endParaRPr lang="en-US" sz="1333" dirty="0"/>
          </a:p>
        </p:txBody>
      </p:sp>
      <p:sp>
        <p:nvSpPr>
          <p:cNvPr id="13" name="Text 11"/>
          <p:cNvSpPr/>
          <p:nvPr/>
        </p:nvSpPr>
        <p:spPr>
          <a:xfrm>
            <a:off x="5120640" y="3718560"/>
            <a:ext cx="1219200" cy="6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</a:t>
            </a:r>
            <a:endParaRPr lang="en-US" sz="1333" dirty="0"/>
          </a:p>
        </p:txBody>
      </p:sp>
      <p:sp>
        <p:nvSpPr>
          <p:cNvPr id="14" name="Text 12"/>
          <p:cNvSpPr/>
          <p:nvPr/>
        </p:nvSpPr>
        <p:spPr>
          <a:xfrm>
            <a:off x="6400800" y="3718560"/>
            <a:ext cx="1097280" cy="6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</a:t>
            </a:r>
            <a:endParaRPr lang="en-US" sz="1333" dirty="0"/>
          </a:p>
        </p:txBody>
      </p:sp>
      <p:sp>
        <p:nvSpPr>
          <p:cNvPr id="15" name="Text 13"/>
          <p:cNvSpPr/>
          <p:nvPr/>
        </p:nvSpPr>
        <p:spPr>
          <a:xfrm>
            <a:off x="7559040" y="3718560"/>
            <a:ext cx="1341120" cy="6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VIGÊNCIA</a:t>
            </a:r>
            <a:endParaRPr lang="en-US" sz="1333" dirty="0"/>
          </a:p>
        </p:txBody>
      </p:sp>
      <p:sp>
        <p:nvSpPr>
          <p:cNvPr id="16" name="Shape 14"/>
          <p:cNvSpPr/>
          <p:nvPr/>
        </p:nvSpPr>
        <p:spPr>
          <a:xfrm>
            <a:off x="914400" y="4387379"/>
            <a:ext cx="7559040" cy="595667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362995"/>
            <a:ext cx="7315200" cy="6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733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(Modal — Cadastrar Nova Oferta)</a:t>
            </a:r>
            <a:endParaRPr lang="en-US" sz="1733" dirty="0"/>
          </a:p>
        </p:txBody>
      </p:sp>
      <p:sp>
        <p:nvSpPr>
          <p:cNvPr id="18" name="Text 16"/>
          <p:cNvSpPr/>
          <p:nvPr/>
        </p:nvSpPr>
        <p:spPr>
          <a:xfrm>
            <a:off x="1097280" y="5007428"/>
            <a:ext cx="1463040" cy="6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Produto: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2621280" y="5007428"/>
            <a:ext cx="5608320" cy="6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(selecionar)</a:t>
            </a:r>
            <a:endParaRPr lang="en-US" sz="1467" dirty="0"/>
          </a:p>
        </p:txBody>
      </p:sp>
      <p:sp>
        <p:nvSpPr>
          <p:cNvPr id="20" name="Shape 18"/>
          <p:cNvSpPr/>
          <p:nvPr/>
        </p:nvSpPr>
        <p:spPr>
          <a:xfrm>
            <a:off x="914400" y="5676247"/>
            <a:ext cx="7559040" cy="595667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97280" y="5651863"/>
            <a:ext cx="1463040" cy="6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Descrição: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2621280" y="5651863"/>
            <a:ext cx="5608320" cy="6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(texto livre)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1097280" y="6296297"/>
            <a:ext cx="1706880" cy="6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 da oferta:</a:t>
            </a:r>
            <a:endParaRPr lang="en-US" sz="1467" dirty="0"/>
          </a:p>
        </p:txBody>
      </p:sp>
      <p:sp>
        <p:nvSpPr>
          <p:cNvPr id="24" name="Text 22"/>
          <p:cNvSpPr/>
          <p:nvPr/>
        </p:nvSpPr>
        <p:spPr>
          <a:xfrm>
            <a:off x="2865120" y="6296297"/>
            <a:ext cx="5364480" cy="6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Desconto / Bonificação / Combo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914400" y="6965116"/>
            <a:ext cx="7559040" cy="595667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097280" y="6940732"/>
            <a:ext cx="1463040" cy="6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Qtd. Mínima:</a:t>
            </a:r>
            <a:endParaRPr lang="en-US" sz="1467" dirty="0"/>
          </a:p>
        </p:txBody>
      </p:sp>
      <p:sp>
        <p:nvSpPr>
          <p:cNvPr id="27" name="Text 25"/>
          <p:cNvSpPr/>
          <p:nvPr/>
        </p:nvSpPr>
        <p:spPr>
          <a:xfrm>
            <a:off x="2621280" y="6940732"/>
            <a:ext cx="1219200" cy="6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(número)</a:t>
            </a:r>
            <a:endParaRPr lang="en-US" sz="1467" dirty="0"/>
          </a:p>
        </p:txBody>
      </p:sp>
      <p:sp>
        <p:nvSpPr>
          <p:cNvPr id="28" name="Text 26"/>
          <p:cNvSpPr/>
          <p:nvPr/>
        </p:nvSpPr>
        <p:spPr>
          <a:xfrm>
            <a:off x="3901440" y="6940732"/>
            <a:ext cx="853440" cy="6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Valor:</a:t>
            </a:r>
            <a:endParaRPr lang="en-US" sz="1467" dirty="0"/>
          </a:p>
        </p:txBody>
      </p:sp>
      <p:sp>
        <p:nvSpPr>
          <p:cNvPr id="29" name="Text 27"/>
          <p:cNvSpPr/>
          <p:nvPr/>
        </p:nvSpPr>
        <p:spPr>
          <a:xfrm>
            <a:off x="4815840" y="6940732"/>
            <a:ext cx="2438400" cy="6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R$ (valor)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1097280" y="7585165"/>
            <a:ext cx="975360" cy="6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Início:</a:t>
            </a:r>
            <a:endParaRPr lang="en-US" sz="1467" dirty="0"/>
          </a:p>
        </p:txBody>
      </p:sp>
      <p:sp>
        <p:nvSpPr>
          <p:cNvPr id="31" name="Text 29"/>
          <p:cNvSpPr/>
          <p:nvPr/>
        </p:nvSpPr>
        <p:spPr>
          <a:xfrm>
            <a:off x="2133600" y="7585165"/>
            <a:ext cx="1950720" cy="6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DD/MM/AAAA</a:t>
            </a:r>
            <a:endParaRPr lang="en-US" sz="1467" dirty="0"/>
          </a:p>
        </p:txBody>
      </p:sp>
      <p:sp>
        <p:nvSpPr>
          <p:cNvPr id="32" name="Text 30"/>
          <p:cNvSpPr/>
          <p:nvPr/>
        </p:nvSpPr>
        <p:spPr>
          <a:xfrm>
            <a:off x="4145280" y="7585165"/>
            <a:ext cx="731520" cy="6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Fim:</a:t>
            </a:r>
            <a:endParaRPr lang="en-US" sz="1467" dirty="0"/>
          </a:p>
        </p:txBody>
      </p:sp>
      <p:sp>
        <p:nvSpPr>
          <p:cNvPr id="33" name="Text 31"/>
          <p:cNvSpPr/>
          <p:nvPr/>
        </p:nvSpPr>
        <p:spPr>
          <a:xfrm>
            <a:off x="4937760" y="7585165"/>
            <a:ext cx="2926080" cy="644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DD/MM/AAAA</a:t>
            </a:r>
            <a:endParaRPr lang="en-US" sz="1467" dirty="0"/>
          </a:p>
        </p:txBody>
      </p:sp>
      <p:sp>
        <p:nvSpPr>
          <p:cNvPr id="34" name="Shape 32"/>
          <p:cNvSpPr/>
          <p:nvPr/>
        </p:nvSpPr>
        <p:spPr>
          <a:xfrm>
            <a:off x="9022080" y="2865120"/>
            <a:ext cx="6461760" cy="1723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22080" y="2865120"/>
            <a:ext cx="646176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265920" y="3084576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3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264" y="3169920"/>
            <a:ext cx="316992" cy="316992"/>
          </a:xfrm>
          <a:prstGeom prst="rect">
            <a:avLst/>
          </a:prstGeom>
        </p:spPr>
      </p:pic>
      <p:sp>
        <p:nvSpPr>
          <p:cNvPr id="38" name="Text 35"/>
          <p:cNvSpPr/>
          <p:nvPr/>
        </p:nvSpPr>
        <p:spPr>
          <a:xfrm>
            <a:off x="9936480" y="3048000"/>
            <a:ext cx="536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Ofertas?</a:t>
            </a:r>
            <a:endParaRPr lang="en-US" sz="1867" dirty="0"/>
          </a:p>
        </p:txBody>
      </p:sp>
      <p:sp>
        <p:nvSpPr>
          <p:cNvPr id="39" name="Text 36"/>
          <p:cNvSpPr/>
          <p:nvPr/>
        </p:nvSpPr>
        <p:spPr>
          <a:xfrm>
            <a:off x="9387840" y="3621024"/>
            <a:ext cx="591312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Promoções por produto, com preço ou condição especial.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Visíveis aos promotores no período configurado.</a:t>
            </a:r>
            <a:endParaRPr lang="en-US" sz="1400" dirty="0"/>
          </a:p>
        </p:txBody>
      </p:sp>
      <p:sp>
        <p:nvSpPr>
          <p:cNvPr id="40" name="Shape 37"/>
          <p:cNvSpPr/>
          <p:nvPr/>
        </p:nvSpPr>
        <p:spPr>
          <a:xfrm>
            <a:off x="9022080" y="4807712"/>
            <a:ext cx="6461760" cy="1723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8"/>
          <p:cNvSpPr/>
          <p:nvPr/>
        </p:nvSpPr>
        <p:spPr>
          <a:xfrm>
            <a:off x="9022080" y="4807712"/>
            <a:ext cx="646176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2" name="Shape 39"/>
          <p:cNvSpPr/>
          <p:nvPr/>
        </p:nvSpPr>
        <p:spPr>
          <a:xfrm>
            <a:off x="9265920" y="5027168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4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1264" y="5112512"/>
            <a:ext cx="316992" cy="316992"/>
          </a:xfrm>
          <a:prstGeom prst="rect">
            <a:avLst/>
          </a:prstGeom>
        </p:spPr>
      </p:pic>
      <p:sp>
        <p:nvSpPr>
          <p:cNvPr id="44" name="Text 40"/>
          <p:cNvSpPr/>
          <p:nvPr/>
        </p:nvSpPr>
        <p:spPr>
          <a:xfrm>
            <a:off x="9936480" y="4990592"/>
            <a:ext cx="536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da oferta</a:t>
            </a:r>
            <a:endParaRPr lang="en-US" sz="1867" dirty="0"/>
          </a:p>
        </p:txBody>
      </p:sp>
      <p:sp>
        <p:nvSpPr>
          <p:cNvPr id="45" name="Text 41"/>
          <p:cNvSpPr/>
          <p:nvPr/>
        </p:nvSpPr>
        <p:spPr>
          <a:xfrm>
            <a:off x="9387840" y="5563616"/>
            <a:ext cx="591312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Produto — item da promoção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Tipo — desconto, bonificação, combo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Quantidade mínima — pedido mínimo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Valor — preço/desconto aplicado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Início e Fim — período de validade</a:t>
            </a:r>
            <a:endParaRPr lang="en-US" sz="1267" dirty="0"/>
          </a:p>
        </p:txBody>
      </p:sp>
      <p:sp>
        <p:nvSpPr>
          <p:cNvPr id="46" name="Shape 42"/>
          <p:cNvSpPr/>
          <p:nvPr/>
        </p:nvSpPr>
        <p:spPr>
          <a:xfrm>
            <a:off x="9022080" y="6750304"/>
            <a:ext cx="6461760" cy="1723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9022080" y="6750304"/>
            <a:ext cx="646176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8" name="Shape 44"/>
          <p:cNvSpPr/>
          <p:nvPr/>
        </p:nvSpPr>
        <p:spPr>
          <a:xfrm>
            <a:off x="9265920" y="6969760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4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1264" y="7055104"/>
            <a:ext cx="316992" cy="316992"/>
          </a:xfrm>
          <a:prstGeom prst="rect">
            <a:avLst/>
          </a:prstGeom>
        </p:spPr>
      </p:pic>
      <p:sp>
        <p:nvSpPr>
          <p:cNvPr id="50" name="Text 45"/>
          <p:cNvSpPr/>
          <p:nvPr/>
        </p:nvSpPr>
        <p:spPr>
          <a:xfrm>
            <a:off x="9936480" y="6933184"/>
            <a:ext cx="536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cadastrar?</a:t>
            </a:r>
            <a:endParaRPr lang="en-US" sz="1867" dirty="0"/>
          </a:p>
        </p:txBody>
      </p:sp>
      <p:sp>
        <p:nvSpPr>
          <p:cNvPr id="51" name="Text 46"/>
          <p:cNvSpPr/>
          <p:nvPr/>
        </p:nvSpPr>
        <p:spPr>
          <a:xfrm>
            <a:off x="9387840" y="7506208"/>
            <a:ext cx="591312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Clique em '+ Cadastrar Oferta'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Preencha o formulário e salve</a:t>
            </a:r>
            <a:endParaRPr lang="en-US" sz="1400" dirty="0"/>
          </a:p>
        </p:txBody>
      </p:sp>
      <p:sp>
        <p:nvSpPr>
          <p:cNvPr id="52" name="Shape 47"/>
          <p:cNvSpPr/>
          <p:nvPr/>
        </p:nvSpPr>
        <p:spPr>
          <a:xfrm>
            <a:off x="0" y="9083040"/>
            <a:ext cx="16215360" cy="6096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609600" y="86319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industria24h.com.br/consignado</a:t>
            </a:r>
            <a:endParaRPr lang="en-US" sz="1333" dirty="0"/>
          </a:p>
        </p:txBody>
      </p:sp>
      <p:sp>
        <p:nvSpPr>
          <p:cNvPr id="54" name="Text 49"/>
          <p:cNvSpPr/>
          <p:nvPr/>
        </p:nvSpPr>
        <p:spPr>
          <a:xfrm>
            <a:off x="14386560" y="863193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20</a:t>
            </a:r>
            <a:endParaRPr lang="en-US" sz="1333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kern="0" spc="4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05</a:t>
            </a:r>
            <a:endParaRPr lang="en-US" sz="1867" dirty="0"/>
          </a:p>
        </p:txBody>
      </p:sp>
      <p:sp>
        <p:nvSpPr>
          <p:cNvPr id="3" name="Text 1"/>
          <p:cNvSpPr/>
          <p:nvPr/>
        </p:nvSpPr>
        <p:spPr>
          <a:xfrm>
            <a:off x="609600" y="1036320"/>
            <a:ext cx="1463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 (PDVs)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207264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e consulta dos pontos de venda atendidos, identificados por código CISS.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865120"/>
            <a:ext cx="7924800" cy="554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865120"/>
            <a:ext cx="7924800" cy="5486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3023616"/>
            <a:ext cx="219456" cy="21945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3584" y="3023616"/>
            <a:ext cx="219456" cy="21945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6192" y="3023616"/>
            <a:ext cx="219456" cy="21945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0720" y="28651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 — Pontos de Venda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1097280" y="3718560"/>
            <a:ext cx="67056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828800" y="3718560"/>
            <a:ext cx="292608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FANTASIA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815840" y="3718560"/>
            <a:ext cx="121920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096000" y="3718560"/>
            <a:ext cx="109728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14400" y="4244171"/>
            <a:ext cx="7559040" cy="452459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97280" y="4219787"/>
            <a:ext cx="67056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432</a:t>
            </a:r>
            <a:endParaRPr lang="en-US" sz="1467" dirty="0"/>
          </a:p>
        </p:txBody>
      </p:sp>
      <p:sp>
        <p:nvSpPr>
          <p:cNvPr id="17" name="Text 15"/>
          <p:cNvSpPr/>
          <p:nvPr/>
        </p:nvSpPr>
        <p:spPr>
          <a:xfrm>
            <a:off x="1828800" y="4219787"/>
            <a:ext cx="292608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NOVA ERA - PONTA NEGRA</a:t>
            </a:r>
            <a:endParaRPr lang="en-US" sz="1467" dirty="0"/>
          </a:p>
        </p:txBody>
      </p:sp>
      <p:sp>
        <p:nvSpPr>
          <p:cNvPr id="18" name="Text 16"/>
          <p:cNvSpPr/>
          <p:nvPr/>
        </p:nvSpPr>
        <p:spPr>
          <a:xfrm>
            <a:off x="4815840" y="4219787"/>
            <a:ext cx="121920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</a:t>
            </a:r>
            <a:endParaRPr lang="en-US" sz="1467" dirty="0"/>
          </a:p>
        </p:txBody>
      </p:sp>
      <p:sp>
        <p:nvSpPr>
          <p:cNvPr id="19" name="Text 17"/>
          <p:cNvSpPr/>
          <p:nvPr/>
        </p:nvSpPr>
        <p:spPr>
          <a:xfrm>
            <a:off x="6096000" y="4219787"/>
            <a:ext cx="109728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Ativa</a:t>
            </a:r>
            <a:endParaRPr lang="en-US" sz="1467" dirty="0"/>
          </a:p>
        </p:txBody>
      </p:sp>
      <p:sp>
        <p:nvSpPr>
          <p:cNvPr id="20" name="Text 18"/>
          <p:cNvSpPr/>
          <p:nvPr/>
        </p:nvSpPr>
        <p:spPr>
          <a:xfrm>
            <a:off x="1097280" y="4721013"/>
            <a:ext cx="67056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431</a:t>
            </a:r>
            <a:endParaRPr lang="en-US" sz="1467" dirty="0"/>
          </a:p>
        </p:txBody>
      </p:sp>
      <p:sp>
        <p:nvSpPr>
          <p:cNvPr id="21" name="Text 19"/>
          <p:cNvSpPr/>
          <p:nvPr/>
        </p:nvSpPr>
        <p:spPr>
          <a:xfrm>
            <a:off x="1828800" y="4721013"/>
            <a:ext cx="292608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53 - NOVA ERA - CIDADE NOVA</a:t>
            </a:r>
            <a:endParaRPr lang="en-US" sz="1467" dirty="0"/>
          </a:p>
        </p:txBody>
      </p:sp>
      <p:sp>
        <p:nvSpPr>
          <p:cNvPr id="22" name="Text 20"/>
          <p:cNvSpPr/>
          <p:nvPr/>
        </p:nvSpPr>
        <p:spPr>
          <a:xfrm>
            <a:off x="4815840" y="4721013"/>
            <a:ext cx="121920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</a:t>
            </a:r>
            <a:endParaRPr lang="en-US" sz="1467" dirty="0"/>
          </a:p>
        </p:txBody>
      </p:sp>
      <p:sp>
        <p:nvSpPr>
          <p:cNvPr id="23" name="Text 21"/>
          <p:cNvSpPr/>
          <p:nvPr/>
        </p:nvSpPr>
        <p:spPr>
          <a:xfrm>
            <a:off x="6096000" y="4721013"/>
            <a:ext cx="109728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Ativa</a:t>
            </a:r>
            <a:endParaRPr lang="en-US" sz="1467" dirty="0"/>
          </a:p>
        </p:txBody>
      </p:sp>
      <p:sp>
        <p:nvSpPr>
          <p:cNvPr id="24" name="Shape 22"/>
          <p:cNvSpPr/>
          <p:nvPr/>
        </p:nvSpPr>
        <p:spPr>
          <a:xfrm>
            <a:off x="914400" y="5246624"/>
            <a:ext cx="7559040" cy="452459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097280" y="5222240"/>
            <a:ext cx="67056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369</a:t>
            </a:r>
            <a:endParaRPr lang="en-US" sz="1467" dirty="0"/>
          </a:p>
        </p:txBody>
      </p:sp>
      <p:sp>
        <p:nvSpPr>
          <p:cNvPr id="26" name="Text 24"/>
          <p:cNvSpPr/>
          <p:nvPr/>
        </p:nvSpPr>
        <p:spPr>
          <a:xfrm>
            <a:off x="1828800" y="5222240"/>
            <a:ext cx="292608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54 - NOVA ERA - MAX TEIXEIRA</a:t>
            </a:r>
            <a:endParaRPr lang="en-US" sz="1467" dirty="0"/>
          </a:p>
        </p:txBody>
      </p:sp>
      <p:sp>
        <p:nvSpPr>
          <p:cNvPr id="27" name="Text 25"/>
          <p:cNvSpPr/>
          <p:nvPr/>
        </p:nvSpPr>
        <p:spPr>
          <a:xfrm>
            <a:off x="4815840" y="5222240"/>
            <a:ext cx="121920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</a:t>
            </a:r>
            <a:endParaRPr lang="en-US" sz="1467" dirty="0"/>
          </a:p>
        </p:txBody>
      </p:sp>
      <p:sp>
        <p:nvSpPr>
          <p:cNvPr id="28" name="Text 26"/>
          <p:cNvSpPr/>
          <p:nvPr/>
        </p:nvSpPr>
        <p:spPr>
          <a:xfrm>
            <a:off x="6096000" y="5222240"/>
            <a:ext cx="109728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Ativa</a:t>
            </a:r>
            <a:endParaRPr lang="en-US" sz="1467" dirty="0"/>
          </a:p>
        </p:txBody>
      </p:sp>
      <p:sp>
        <p:nvSpPr>
          <p:cNvPr id="29" name="Text 27"/>
          <p:cNvSpPr/>
          <p:nvPr/>
        </p:nvSpPr>
        <p:spPr>
          <a:xfrm>
            <a:off x="1097280" y="5723467"/>
            <a:ext cx="67056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243</a:t>
            </a:r>
            <a:endParaRPr lang="en-US" sz="1467" dirty="0"/>
          </a:p>
        </p:txBody>
      </p:sp>
      <p:sp>
        <p:nvSpPr>
          <p:cNvPr id="30" name="Text 28"/>
          <p:cNvSpPr/>
          <p:nvPr/>
        </p:nvSpPr>
        <p:spPr>
          <a:xfrm>
            <a:off x="1828800" y="5723467"/>
            <a:ext cx="292608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57 - NOVA ERA (TORRES 2)</a:t>
            </a:r>
            <a:endParaRPr lang="en-US" sz="1467" dirty="0"/>
          </a:p>
        </p:txBody>
      </p:sp>
      <p:sp>
        <p:nvSpPr>
          <p:cNvPr id="31" name="Text 29"/>
          <p:cNvSpPr/>
          <p:nvPr/>
        </p:nvSpPr>
        <p:spPr>
          <a:xfrm>
            <a:off x="4815840" y="5723467"/>
            <a:ext cx="121920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</a:t>
            </a:r>
            <a:endParaRPr lang="en-US" sz="1467" dirty="0"/>
          </a:p>
        </p:txBody>
      </p:sp>
      <p:sp>
        <p:nvSpPr>
          <p:cNvPr id="32" name="Text 30"/>
          <p:cNvSpPr/>
          <p:nvPr/>
        </p:nvSpPr>
        <p:spPr>
          <a:xfrm>
            <a:off x="6096000" y="5723467"/>
            <a:ext cx="109728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Ativa</a:t>
            </a:r>
            <a:endParaRPr lang="en-US" sz="1467" dirty="0"/>
          </a:p>
        </p:txBody>
      </p:sp>
      <p:sp>
        <p:nvSpPr>
          <p:cNvPr id="33" name="Shape 31"/>
          <p:cNvSpPr/>
          <p:nvPr/>
        </p:nvSpPr>
        <p:spPr>
          <a:xfrm>
            <a:off x="914400" y="6249077"/>
            <a:ext cx="7559040" cy="452459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097280" y="6224693"/>
            <a:ext cx="67056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367</a:t>
            </a:r>
            <a:endParaRPr lang="en-US" sz="1467" dirty="0"/>
          </a:p>
        </p:txBody>
      </p:sp>
      <p:sp>
        <p:nvSpPr>
          <p:cNvPr id="35" name="Text 33"/>
          <p:cNvSpPr/>
          <p:nvPr/>
        </p:nvSpPr>
        <p:spPr>
          <a:xfrm>
            <a:off x="1828800" y="6224693"/>
            <a:ext cx="292608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56 - NOVA ERA - COROADO</a:t>
            </a:r>
            <a:endParaRPr lang="en-US" sz="1467" dirty="0"/>
          </a:p>
        </p:txBody>
      </p:sp>
      <p:sp>
        <p:nvSpPr>
          <p:cNvPr id="36" name="Text 34"/>
          <p:cNvSpPr/>
          <p:nvPr/>
        </p:nvSpPr>
        <p:spPr>
          <a:xfrm>
            <a:off x="4815840" y="6224693"/>
            <a:ext cx="121920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</a:t>
            </a:r>
            <a:endParaRPr lang="en-US" sz="1467" dirty="0"/>
          </a:p>
        </p:txBody>
      </p:sp>
      <p:sp>
        <p:nvSpPr>
          <p:cNvPr id="37" name="Text 35"/>
          <p:cNvSpPr/>
          <p:nvPr/>
        </p:nvSpPr>
        <p:spPr>
          <a:xfrm>
            <a:off x="6096000" y="6224693"/>
            <a:ext cx="109728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Ativa</a:t>
            </a:r>
            <a:endParaRPr lang="en-US" sz="1467" dirty="0"/>
          </a:p>
        </p:txBody>
      </p:sp>
      <p:sp>
        <p:nvSpPr>
          <p:cNvPr id="38" name="Text 36"/>
          <p:cNvSpPr/>
          <p:nvPr/>
        </p:nvSpPr>
        <p:spPr>
          <a:xfrm>
            <a:off x="1097280" y="6725920"/>
            <a:ext cx="67056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152</a:t>
            </a:r>
            <a:endParaRPr lang="en-US" sz="1467" dirty="0"/>
          </a:p>
        </p:txBody>
      </p:sp>
      <p:sp>
        <p:nvSpPr>
          <p:cNvPr id="39" name="Text 37"/>
          <p:cNvSpPr/>
          <p:nvPr/>
        </p:nvSpPr>
        <p:spPr>
          <a:xfrm>
            <a:off x="1828800" y="6725920"/>
            <a:ext cx="292608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34 - NOVA ERA - AV.SILVES</a:t>
            </a:r>
            <a:endParaRPr lang="en-US" sz="1467" dirty="0"/>
          </a:p>
        </p:txBody>
      </p:sp>
      <p:sp>
        <p:nvSpPr>
          <p:cNvPr id="40" name="Text 38"/>
          <p:cNvSpPr/>
          <p:nvPr/>
        </p:nvSpPr>
        <p:spPr>
          <a:xfrm>
            <a:off x="4815840" y="6725920"/>
            <a:ext cx="121920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</a:t>
            </a:r>
            <a:endParaRPr lang="en-US" sz="1467" dirty="0"/>
          </a:p>
        </p:txBody>
      </p:sp>
      <p:sp>
        <p:nvSpPr>
          <p:cNvPr id="41" name="Text 39"/>
          <p:cNvSpPr/>
          <p:nvPr/>
        </p:nvSpPr>
        <p:spPr>
          <a:xfrm>
            <a:off x="6096000" y="6725920"/>
            <a:ext cx="109728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Ativa</a:t>
            </a:r>
            <a:endParaRPr lang="en-US" sz="1467" dirty="0"/>
          </a:p>
        </p:txBody>
      </p:sp>
      <p:sp>
        <p:nvSpPr>
          <p:cNvPr id="42" name="Shape 40"/>
          <p:cNvSpPr/>
          <p:nvPr/>
        </p:nvSpPr>
        <p:spPr>
          <a:xfrm>
            <a:off x="914400" y="7251531"/>
            <a:ext cx="7559040" cy="452459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97280" y="7227147"/>
            <a:ext cx="67056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88</a:t>
            </a:r>
            <a:endParaRPr lang="en-US" sz="1467" dirty="0"/>
          </a:p>
        </p:txBody>
      </p:sp>
      <p:sp>
        <p:nvSpPr>
          <p:cNvPr id="44" name="Text 42"/>
          <p:cNvSpPr/>
          <p:nvPr/>
        </p:nvSpPr>
        <p:spPr>
          <a:xfrm>
            <a:off x="1828800" y="7227147"/>
            <a:ext cx="292608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31 - NOVA ERA - TORRES 1</a:t>
            </a:r>
            <a:endParaRPr lang="en-US" sz="1467" dirty="0"/>
          </a:p>
        </p:txBody>
      </p:sp>
      <p:sp>
        <p:nvSpPr>
          <p:cNvPr id="45" name="Text 43"/>
          <p:cNvSpPr/>
          <p:nvPr/>
        </p:nvSpPr>
        <p:spPr>
          <a:xfrm>
            <a:off x="4815840" y="7227147"/>
            <a:ext cx="121920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</a:t>
            </a:r>
            <a:endParaRPr lang="en-US" sz="1467" dirty="0"/>
          </a:p>
        </p:txBody>
      </p:sp>
      <p:sp>
        <p:nvSpPr>
          <p:cNvPr id="46" name="Text 44"/>
          <p:cNvSpPr/>
          <p:nvPr/>
        </p:nvSpPr>
        <p:spPr>
          <a:xfrm>
            <a:off x="6096000" y="7227147"/>
            <a:ext cx="109728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Ativa</a:t>
            </a:r>
            <a:endParaRPr lang="en-US" sz="1467" dirty="0"/>
          </a:p>
        </p:txBody>
      </p:sp>
      <p:sp>
        <p:nvSpPr>
          <p:cNvPr id="47" name="Text 45"/>
          <p:cNvSpPr/>
          <p:nvPr/>
        </p:nvSpPr>
        <p:spPr>
          <a:xfrm>
            <a:off x="1097280" y="7728373"/>
            <a:ext cx="67056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...</a:t>
            </a:r>
            <a:endParaRPr lang="en-US" sz="1467" dirty="0"/>
          </a:p>
        </p:txBody>
      </p:sp>
      <p:sp>
        <p:nvSpPr>
          <p:cNvPr id="48" name="Text 46"/>
          <p:cNvSpPr/>
          <p:nvPr/>
        </p:nvSpPr>
        <p:spPr>
          <a:xfrm>
            <a:off x="1828800" y="7728373"/>
            <a:ext cx="292608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mais lojas cadastradas</a:t>
            </a:r>
            <a:endParaRPr lang="en-US" sz="1467" dirty="0"/>
          </a:p>
        </p:txBody>
      </p:sp>
      <p:sp>
        <p:nvSpPr>
          <p:cNvPr id="49" name="Text 47"/>
          <p:cNvSpPr/>
          <p:nvPr/>
        </p:nvSpPr>
        <p:spPr>
          <a:xfrm>
            <a:off x="4815840" y="7728373"/>
            <a:ext cx="121920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67" dirty="0"/>
          </a:p>
        </p:txBody>
      </p:sp>
      <p:sp>
        <p:nvSpPr>
          <p:cNvPr id="50" name="Text 48"/>
          <p:cNvSpPr/>
          <p:nvPr/>
        </p:nvSpPr>
        <p:spPr>
          <a:xfrm>
            <a:off x="6096000" y="7728373"/>
            <a:ext cx="1097280" cy="50122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467" dirty="0"/>
          </a:p>
        </p:txBody>
      </p:sp>
      <p:sp>
        <p:nvSpPr>
          <p:cNvPr id="51" name="Shape 49"/>
          <p:cNvSpPr/>
          <p:nvPr/>
        </p:nvSpPr>
        <p:spPr>
          <a:xfrm>
            <a:off x="9022080" y="2865120"/>
            <a:ext cx="6461760" cy="1723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9022080" y="2865120"/>
            <a:ext cx="646176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9265920" y="3084576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5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264" y="3169920"/>
            <a:ext cx="316992" cy="316992"/>
          </a:xfrm>
          <a:prstGeom prst="rect">
            <a:avLst/>
          </a:prstGeom>
        </p:spPr>
      </p:pic>
      <p:sp>
        <p:nvSpPr>
          <p:cNvPr id="55" name="Text 52"/>
          <p:cNvSpPr/>
          <p:nvPr/>
        </p:nvSpPr>
        <p:spPr>
          <a:xfrm>
            <a:off x="9936480" y="3048000"/>
            <a:ext cx="536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são Lojas?</a:t>
            </a:r>
            <a:endParaRPr lang="en-US" sz="1867" dirty="0"/>
          </a:p>
        </p:txBody>
      </p:sp>
      <p:sp>
        <p:nvSpPr>
          <p:cNvPr id="56" name="Text 53"/>
          <p:cNvSpPr/>
          <p:nvPr/>
        </p:nvSpPr>
        <p:spPr>
          <a:xfrm>
            <a:off x="9387840" y="3621024"/>
            <a:ext cx="591312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Pontos de venda (PDVs) atendidos.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Cada loja tem código CISS único.</a:t>
            </a:r>
            <a:endParaRPr lang="en-US" sz="1400" dirty="0"/>
          </a:p>
        </p:txBody>
      </p:sp>
      <p:sp>
        <p:nvSpPr>
          <p:cNvPr id="57" name="Shape 54"/>
          <p:cNvSpPr/>
          <p:nvPr/>
        </p:nvSpPr>
        <p:spPr>
          <a:xfrm>
            <a:off x="9022080" y="4807712"/>
            <a:ext cx="6461760" cy="1723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Shape 55"/>
          <p:cNvSpPr/>
          <p:nvPr/>
        </p:nvSpPr>
        <p:spPr>
          <a:xfrm>
            <a:off x="9022080" y="4807712"/>
            <a:ext cx="646176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9" name="Shape 56"/>
          <p:cNvSpPr/>
          <p:nvPr/>
        </p:nvSpPr>
        <p:spPr>
          <a:xfrm>
            <a:off x="9265920" y="5027168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6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1264" y="5112512"/>
            <a:ext cx="316992" cy="316992"/>
          </a:xfrm>
          <a:prstGeom prst="rect">
            <a:avLst/>
          </a:prstGeom>
        </p:spPr>
      </p:pic>
      <p:sp>
        <p:nvSpPr>
          <p:cNvPr id="61" name="Text 57"/>
          <p:cNvSpPr/>
          <p:nvPr/>
        </p:nvSpPr>
        <p:spPr>
          <a:xfrm>
            <a:off x="9936480" y="4990592"/>
            <a:ext cx="536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Campos exibidos</a:t>
            </a:r>
            <a:endParaRPr lang="en-US" sz="1867" dirty="0"/>
          </a:p>
        </p:txBody>
      </p:sp>
      <p:sp>
        <p:nvSpPr>
          <p:cNvPr id="62" name="Text 58"/>
          <p:cNvSpPr/>
          <p:nvPr/>
        </p:nvSpPr>
        <p:spPr>
          <a:xfrm>
            <a:off x="9387840" y="5563616"/>
            <a:ext cx="591312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CISS — código identificador único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Nome Fantasia e Razão Social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CNPJ e Cidade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Status — Ativa ou Inativa</a:t>
            </a:r>
            <a:endParaRPr lang="en-US" sz="1267" dirty="0"/>
          </a:p>
        </p:txBody>
      </p:sp>
      <p:sp>
        <p:nvSpPr>
          <p:cNvPr id="63" name="Shape 59"/>
          <p:cNvSpPr/>
          <p:nvPr/>
        </p:nvSpPr>
        <p:spPr>
          <a:xfrm>
            <a:off x="9022080" y="6750304"/>
            <a:ext cx="6461760" cy="1723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Shape 60"/>
          <p:cNvSpPr/>
          <p:nvPr/>
        </p:nvSpPr>
        <p:spPr>
          <a:xfrm>
            <a:off x="9022080" y="6750304"/>
            <a:ext cx="646176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65" name="Shape 61"/>
          <p:cNvSpPr/>
          <p:nvPr/>
        </p:nvSpPr>
        <p:spPr>
          <a:xfrm>
            <a:off x="9265920" y="6969760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6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1264" y="7055104"/>
            <a:ext cx="316992" cy="316992"/>
          </a:xfrm>
          <a:prstGeom prst="rect">
            <a:avLst/>
          </a:prstGeom>
        </p:spPr>
      </p:pic>
      <p:sp>
        <p:nvSpPr>
          <p:cNvPr id="67" name="Text 62"/>
          <p:cNvSpPr/>
          <p:nvPr/>
        </p:nvSpPr>
        <p:spPr>
          <a:xfrm>
            <a:off x="9936480" y="6933184"/>
            <a:ext cx="536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Cidades atendidas</a:t>
            </a:r>
            <a:endParaRPr lang="en-US" sz="1867" dirty="0"/>
          </a:p>
        </p:txBody>
      </p:sp>
      <p:sp>
        <p:nvSpPr>
          <p:cNvPr id="68" name="Text 63"/>
          <p:cNvSpPr/>
          <p:nvPr/>
        </p:nvSpPr>
        <p:spPr>
          <a:xfrm>
            <a:off x="9387840" y="7506208"/>
            <a:ext cx="591312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Manaus (AM) — rede NOVA ERA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Rio Branco (AC) — rede ARASUPER e MERCALE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Cada filial vê apenas suas lojas</a:t>
            </a:r>
            <a:endParaRPr lang="en-US" sz="1400" dirty="0"/>
          </a:p>
        </p:txBody>
      </p:sp>
      <p:sp>
        <p:nvSpPr>
          <p:cNvPr id="69" name="Shape 64"/>
          <p:cNvSpPr/>
          <p:nvPr/>
        </p:nvSpPr>
        <p:spPr>
          <a:xfrm>
            <a:off x="0" y="9083040"/>
            <a:ext cx="16215360" cy="6096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70" name="Text 65"/>
          <p:cNvSpPr/>
          <p:nvPr/>
        </p:nvSpPr>
        <p:spPr>
          <a:xfrm>
            <a:off x="609600" y="86319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industria24h.com.br/consignado</a:t>
            </a:r>
            <a:endParaRPr lang="en-US" sz="1333" dirty="0"/>
          </a:p>
        </p:txBody>
      </p:sp>
      <p:sp>
        <p:nvSpPr>
          <p:cNvPr id="71" name="Text 66"/>
          <p:cNvSpPr/>
          <p:nvPr/>
        </p:nvSpPr>
        <p:spPr>
          <a:xfrm>
            <a:off x="14386560" y="863193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20</a:t>
            </a:r>
            <a:endParaRPr lang="en-US" sz="1333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kern="0" spc="4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 06</a:t>
            </a:r>
            <a:endParaRPr lang="en-US" sz="1867" dirty="0"/>
          </a:p>
        </p:txBody>
      </p:sp>
      <p:sp>
        <p:nvSpPr>
          <p:cNvPr id="3" name="Text 1"/>
          <p:cNvSpPr/>
          <p:nvPr/>
        </p:nvSpPr>
        <p:spPr>
          <a:xfrm>
            <a:off x="609600" y="1036320"/>
            <a:ext cx="1463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de Acesso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207264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Gerenciamento de usuários, perfis e permissões — quem faz o quê no sistema.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865120"/>
            <a:ext cx="7924800" cy="554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27000" dist="25400" dir="5400000" algn="bl" rotWithShape="0">
              <a:srgbClr val="000000">
                <a:alpha val="6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865120"/>
            <a:ext cx="7924800" cy="54864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50976" y="3023616"/>
            <a:ext cx="219456" cy="219456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43584" y="3023616"/>
            <a:ext cx="219456" cy="219456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536192" y="3023616"/>
            <a:ext cx="219456" cy="219456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950720" y="2865120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Perfis — Busque pelo nome</a:t>
            </a:r>
            <a:endParaRPr lang="en-US" sz="1733" dirty="0"/>
          </a:p>
        </p:txBody>
      </p:sp>
      <p:sp>
        <p:nvSpPr>
          <p:cNvPr id="11" name="Text 9"/>
          <p:cNvSpPr/>
          <p:nvPr/>
        </p:nvSpPr>
        <p:spPr>
          <a:xfrm>
            <a:off x="1097280" y="3718560"/>
            <a:ext cx="20726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3230880" y="3718560"/>
            <a:ext cx="195072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242560" y="3718560"/>
            <a:ext cx="10972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FILIAL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6400800" y="3718560"/>
            <a:ext cx="10972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559040" y="3718560"/>
            <a:ext cx="60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200" b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14400" y="4306824"/>
            <a:ext cx="7559040" cy="51511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282440"/>
            <a:ext cx="20726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Roberto Dev</a:t>
            </a:r>
            <a:endParaRPr lang="en-US" sz="1333" dirty="0"/>
          </a:p>
        </p:txBody>
      </p:sp>
      <p:sp>
        <p:nvSpPr>
          <p:cNvPr id="18" name="Text 16"/>
          <p:cNvSpPr/>
          <p:nvPr/>
        </p:nvSpPr>
        <p:spPr>
          <a:xfrm>
            <a:off x="3230880" y="4282440"/>
            <a:ext cx="195072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B71C1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</a:t>
            </a:r>
            <a:endParaRPr lang="en-US" sz="1333" dirty="0"/>
          </a:p>
        </p:txBody>
      </p:sp>
      <p:sp>
        <p:nvSpPr>
          <p:cNvPr id="19" name="Text 17"/>
          <p:cNvSpPr/>
          <p:nvPr/>
        </p:nvSpPr>
        <p:spPr>
          <a:xfrm>
            <a:off x="5242560" y="4282440"/>
            <a:ext cx="10972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</a:t>
            </a:r>
            <a:endParaRPr lang="en-US" sz="1333" dirty="0"/>
          </a:p>
        </p:txBody>
      </p:sp>
      <p:sp>
        <p:nvSpPr>
          <p:cNvPr id="20" name="Text 18"/>
          <p:cNvSpPr/>
          <p:nvPr/>
        </p:nvSpPr>
        <p:spPr>
          <a:xfrm>
            <a:off x="6400800" y="4282440"/>
            <a:ext cx="10972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Ativo</a:t>
            </a:r>
            <a:endParaRPr lang="en-US" sz="1333" dirty="0"/>
          </a:p>
        </p:txBody>
      </p:sp>
      <p:sp>
        <p:nvSpPr>
          <p:cNvPr id="21" name="Text 19"/>
          <p:cNvSpPr/>
          <p:nvPr/>
        </p:nvSpPr>
        <p:spPr>
          <a:xfrm>
            <a:off x="7559040" y="4282440"/>
            <a:ext cx="60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333" dirty="0"/>
          </a:p>
        </p:txBody>
      </p:sp>
      <p:sp>
        <p:nvSpPr>
          <p:cNvPr id="22" name="Text 20"/>
          <p:cNvSpPr/>
          <p:nvPr/>
        </p:nvSpPr>
        <p:spPr>
          <a:xfrm>
            <a:off x="1097280" y="4846320"/>
            <a:ext cx="20726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andreiaschneider</a:t>
            </a:r>
            <a:endParaRPr lang="en-US" sz="1333" dirty="0"/>
          </a:p>
        </p:txBody>
      </p:sp>
      <p:sp>
        <p:nvSpPr>
          <p:cNvPr id="23" name="Text 21"/>
          <p:cNvSpPr/>
          <p:nvPr/>
        </p:nvSpPr>
        <p:spPr>
          <a:xfrm>
            <a:off x="3230880" y="4846320"/>
            <a:ext cx="195072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Escritório / Admin</a:t>
            </a:r>
            <a:endParaRPr lang="en-US" sz="1333" dirty="0"/>
          </a:p>
        </p:txBody>
      </p:sp>
      <p:sp>
        <p:nvSpPr>
          <p:cNvPr id="24" name="Text 22"/>
          <p:cNvSpPr/>
          <p:nvPr/>
        </p:nvSpPr>
        <p:spPr>
          <a:xfrm>
            <a:off x="5242560" y="4846320"/>
            <a:ext cx="10972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</a:t>
            </a:r>
            <a:endParaRPr lang="en-US" sz="1333" dirty="0"/>
          </a:p>
        </p:txBody>
      </p:sp>
      <p:sp>
        <p:nvSpPr>
          <p:cNvPr id="25" name="Text 23"/>
          <p:cNvSpPr/>
          <p:nvPr/>
        </p:nvSpPr>
        <p:spPr>
          <a:xfrm>
            <a:off x="6400800" y="4846320"/>
            <a:ext cx="10972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Ativo</a:t>
            </a:r>
            <a:endParaRPr lang="en-US" sz="1333" dirty="0"/>
          </a:p>
        </p:txBody>
      </p:sp>
      <p:sp>
        <p:nvSpPr>
          <p:cNvPr id="26" name="Text 24"/>
          <p:cNvSpPr/>
          <p:nvPr/>
        </p:nvSpPr>
        <p:spPr>
          <a:xfrm>
            <a:off x="7559040" y="4846320"/>
            <a:ext cx="60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333" dirty="0"/>
          </a:p>
        </p:txBody>
      </p:sp>
      <p:sp>
        <p:nvSpPr>
          <p:cNvPr id="27" name="Shape 25"/>
          <p:cNvSpPr/>
          <p:nvPr/>
        </p:nvSpPr>
        <p:spPr>
          <a:xfrm>
            <a:off x="914400" y="5434584"/>
            <a:ext cx="7559040" cy="51511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097280" y="5410200"/>
            <a:ext cx="20726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Elisângela da Silva</a:t>
            </a:r>
            <a:endParaRPr lang="en-US" sz="1333" dirty="0"/>
          </a:p>
        </p:txBody>
      </p:sp>
      <p:sp>
        <p:nvSpPr>
          <p:cNvPr id="29" name="Text 27"/>
          <p:cNvSpPr/>
          <p:nvPr/>
        </p:nvSpPr>
        <p:spPr>
          <a:xfrm>
            <a:off x="3230880" y="5410200"/>
            <a:ext cx="195072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333" dirty="0"/>
          </a:p>
        </p:txBody>
      </p:sp>
      <p:sp>
        <p:nvSpPr>
          <p:cNvPr id="30" name="Text 28"/>
          <p:cNvSpPr/>
          <p:nvPr/>
        </p:nvSpPr>
        <p:spPr>
          <a:xfrm>
            <a:off x="5242560" y="5410200"/>
            <a:ext cx="10972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</a:t>
            </a:r>
            <a:endParaRPr lang="en-US" sz="1333" dirty="0"/>
          </a:p>
        </p:txBody>
      </p:sp>
      <p:sp>
        <p:nvSpPr>
          <p:cNvPr id="31" name="Text 29"/>
          <p:cNvSpPr/>
          <p:nvPr/>
        </p:nvSpPr>
        <p:spPr>
          <a:xfrm>
            <a:off x="6400800" y="5410200"/>
            <a:ext cx="10972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Ativo</a:t>
            </a:r>
            <a:endParaRPr lang="en-US" sz="1333" dirty="0"/>
          </a:p>
        </p:txBody>
      </p:sp>
      <p:sp>
        <p:nvSpPr>
          <p:cNvPr id="32" name="Text 30"/>
          <p:cNvSpPr/>
          <p:nvPr/>
        </p:nvSpPr>
        <p:spPr>
          <a:xfrm>
            <a:off x="7559040" y="5410200"/>
            <a:ext cx="60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333" dirty="0"/>
          </a:p>
        </p:txBody>
      </p:sp>
      <p:sp>
        <p:nvSpPr>
          <p:cNvPr id="33" name="Text 31"/>
          <p:cNvSpPr/>
          <p:nvPr/>
        </p:nvSpPr>
        <p:spPr>
          <a:xfrm>
            <a:off x="1097280" y="5974080"/>
            <a:ext cx="20726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Emerson Albuquerque</a:t>
            </a:r>
            <a:endParaRPr lang="en-US" sz="1333" dirty="0"/>
          </a:p>
        </p:txBody>
      </p:sp>
      <p:sp>
        <p:nvSpPr>
          <p:cNvPr id="34" name="Text 32"/>
          <p:cNvSpPr/>
          <p:nvPr/>
        </p:nvSpPr>
        <p:spPr>
          <a:xfrm>
            <a:off x="3230880" y="5974080"/>
            <a:ext cx="195072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</a:t>
            </a:r>
            <a:endParaRPr lang="en-US" sz="1333" dirty="0"/>
          </a:p>
        </p:txBody>
      </p:sp>
      <p:sp>
        <p:nvSpPr>
          <p:cNvPr id="35" name="Text 33"/>
          <p:cNvSpPr/>
          <p:nvPr/>
        </p:nvSpPr>
        <p:spPr>
          <a:xfrm>
            <a:off x="5242560" y="5974080"/>
            <a:ext cx="10972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</a:t>
            </a:r>
            <a:endParaRPr lang="en-US" sz="1333" dirty="0"/>
          </a:p>
        </p:txBody>
      </p:sp>
      <p:sp>
        <p:nvSpPr>
          <p:cNvPr id="36" name="Text 34"/>
          <p:cNvSpPr/>
          <p:nvPr/>
        </p:nvSpPr>
        <p:spPr>
          <a:xfrm>
            <a:off x="6400800" y="5974080"/>
            <a:ext cx="10972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Ativo</a:t>
            </a:r>
            <a:endParaRPr lang="en-US" sz="1333" dirty="0"/>
          </a:p>
        </p:txBody>
      </p:sp>
      <p:sp>
        <p:nvSpPr>
          <p:cNvPr id="37" name="Text 35"/>
          <p:cNvSpPr/>
          <p:nvPr/>
        </p:nvSpPr>
        <p:spPr>
          <a:xfrm>
            <a:off x="7559040" y="5974080"/>
            <a:ext cx="60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333" dirty="0"/>
          </a:p>
        </p:txBody>
      </p:sp>
      <p:sp>
        <p:nvSpPr>
          <p:cNvPr id="38" name="Shape 36"/>
          <p:cNvSpPr/>
          <p:nvPr/>
        </p:nvSpPr>
        <p:spPr>
          <a:xfrm>
            <a:off x="914400" y="6562344"/>
            <a:ext cx="7559040" cy="51511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97280" y="6537960"/>
            <a:ext cx="20726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Expedição</a:t>
            </a:r>
            <a:endParaRPr lang="en-US" sz="1333" dirty="0"/>
          </a:p>
        </p:txBody>
      </p:sp>
      <p:sp>
        <p:nvSpPr>
          <p:cNvPr id="40" name="Text 38"/>
          <p:cNvSpPr/>
          <p:nvPr/>
        </p:nvSpPr>
        <p:spPr>
          <a:xfrm>
            <a:off x="3230880" y="6537960"/>
            <a:ext cx="195072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Expedição</a:t>
            </a:r>
            <a:endParaRPr lang="en-US" sz="1333" dirty="0"/>
          </a:p>
        </p:txBody>
      </p:sp>
      <p:sp>
        <p:nvSpPr>
          <p:cNvPr id="41" name="Text 39"/>
          <p:cNvSpPr/>
          <p:nvPr/>
        </p:nvSpPr>
        <p:spPr>
          <a:xfrm>
            <a:off x="5242560" y="6537960"/>
            <a:ext cx="10972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Manaus</a:t>
            </a:r>
            <a:endParaRPr lang="en-US" sz="1333" dirty="0"/>
          </a:p>
        </p:txBody>
      </p:sp>
      <p:sp>
        <p:nvSpPr>
          <p:cNvPr id="42" name="Text 40"/>
          <p:cNvSpPr/>
          <p:nvPr/>
        </p:nvSpPr>
        <p:spPr>
          <a:xfrm>
            <a:off x="6400800" y="6537960"/>
            <a:ext cx="10972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6A3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Ativo</a:t>
            </a:r>
            <a:endParaRPr lang="en-US" sz="1333" dirty="0"/>
          </a:p>
        </p:txBody>
      </p:sp>
      <p:sp>
        <p:nvSpPr>
          <p:cNvPr id="43" name="Text 41"/>
          <p:cNvSpPr/>
          <p:nvPr/>
        </p:nvSpPr>
        <p:spPr>
          <a:xfrm>
            <a:off x="7559040" y="6537960"/>
            <a:ext cx="60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1B5E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</a:t>
            </a:r>
            <a:endParaRPr lang="en-US" sz="1333" dirty="0"/>
          </a:p>
        </p:txBody>
      </p:sp>
      <p:sp>
        <p:nvSpPr>
          <p:cNvPr id="44" name="Text 42"/>
          <p:cNvSpPr/>
          <p:nvPr/>
        </p:nvSpPr>
        <p:spPr>
          <a:xfrm>
            <a:off x="1097280" y="7101840"/>
            <a:ext cx="20726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Emilly Moris</a:t>
            </a:r>
            <a:endParaRPr lang="en-US" sz="1333" dirty="0"/>
          </a:p>
        </p:txBody>
      </p:sp>
      <p:sp>
        <p:nvSpPr>
          <p:cNvPr id="45" name="Text 43"/>
          <p:cNvSpPr/>
          <p:nvPr/>
        </p:nvSpPr>
        <p:spPr>
          <a:xfrm>
            <a:off x="3230880" y="7101840"/>
            <a:ext cx="195072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definir)</a:t>
            </a:r>
            <a:endParaRPr lang="en-US" sz="1333" dirty="0"/>
          </a:p>
        </p:txBody>
      </p:sp>
      <p:sp>
        <p:nvSpPr>
          <p:cNvPr id="46" name="Text 44"/>
          <p:cNvSpPr/>
          <p:nvPr/>
        </p:nvSpPr>
        <p:spPr>
          <a:xfrm>
            <a:off x="5242560" y="7101840"/>
            <a:ext cx="10972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33" dirty="0"/>
          </a:p>
        </p:txBody>
      </p:sp>
      <p:sp>
        <p:nvSpPr>
          <p:cNvPr id="47" name="Text 45"/>
          <p:cNvSpPr/>
          <p:nvPr/>
        </p:nvSpPr>
        <p:spPr>
          <a:xfrm>
            <a:off x="6400800" y="7101840"/>
            <a:ext cx="10972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Pendente</a:t>
            </a:r>
            <a:endParaRPr lang="en-US" sz="1333" dirty="0"/>
          </a:p>
        </p:txBody>
      </p:sp>
      <p:sp>
        <p:nvSpPr>
          <p:cNvPr id="48" name="Text 46"/>
          <p:cNvSpPr/>
          <p:nvPr/>
        </p:nvSpPr>
        <p:spPr>
          <a:xfrm>
            <a:off x="7559040" y="7101840"/>
            <a:ext cx="60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333" dirty="0"/>
          </a:p>
        </p:txBody>
      </p:sp>
      <p:sp>
        <p:nvSpPr>
          <p:cNvPr id="49" name="Shape 47"/>
          <p:cNvSpPr/>
          <p:nvPr/>
        </p:nvSpPr>
        <p:spPr>
          <a:xfrm>
            <a:off x="914400" y="7690104"/>
            <a:ext cx="7559040" cy="515112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097280" y="7665720"/>
            <a:ext cx="207264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Laison Teste</a:t>
            </a:r>
            <a:endParaRPr lang="en-US" sz="1333" dirty="0"/>
          </a:p>
        </p:txBody>
      </p:sp>
      <p:sp>
        <p:nvSpPr>
          <p:cNvPr id="51" name="Text 49"/>
          <p:cNvSpPr/>
          <p:nvPr/>
        </p:nvSpPr>
        <p:spPr>
          <a:xfrm>
            <a:off x="3230880" y="7665720"/>
            <a:ext cx="195072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 definir)</a:t>
            </a:r>
            <a:endParaRPr lang="en-US" sz="1333" dirty="0"/>
          </a:p>
        </p:txBody>
      </p:sp>
      <p:sp>
        <p:nvSpPr>
          <p:cNvPr id="52" name="Text 50"/>
          <p:cNvSpPr/>
          <p:nvPr/>
        </p:nvSpPr>
        <p:spPr>
          <a:xfrm>
            <a:off x="5242560" y="7665720"/>
            <a:ext cx="10972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333" dirty="0"/>
          </a:p>
        </p:txBody>
      </p:sp>
      <p:sp>
        <p:nvSpPr>
          <p:cNvPr id="53" name="Text 51"/>
          <p:cNvSpPr/>
          <p:nvPr/>
        </p:nvSpPr>
        <p:spPr>
          <a:xfrm>
            <a:off x="6400800" y="7665720"/>
            <a:ext cx="109728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b="1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Pendente</a:t>
            </a:r>
            <a:endParaRPr lang="en-US" sz="1333" dirty="0"/>
          </a:p>
        </p:txBody>
      </p:sp>
      <p:sp>
        <p:nvSpPr>
          <p:cNvPr id="54" name="Text 52"/>
          <p:cNvSpPr/>
          <p:nvPr/>
        </p:nvSpPr>
        <p:spPr>
          <a:xfrm>
            <a:off x="7559040" y="7665720"/>
            <a:ext cx="609600" cy="563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33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NÃO</a:t>
            </a:r>
            <a:endParaRPr lang="en-US" sz="1333" dirty="0"/>
          </a:p>
        </p:txBody>
      </p:sp>
      <p:sp>
        <p:nvSpPr>
          <p:cNvPr id="55" name="Shape 53"/>
          <p:cNvSpPr/>
          <p:nvPr/>
        </p:nvSpPr>
        <p:spPr>
          <a:xfrm>
            <a:off x="9022080" y="2865120"/>
            <a:ext cx="6461760" cy="1723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9022080" y="2865120"/>
            <a:ext cx="646176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9265920" y="3084576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5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51264" y="3169920"/>
            <a:ext cx="316992" cy="316992"/>
          </a:xfrm>
          <a:prstGeom prst="rect">
            <a:avLst/>
          </a:prstGeom>
        </p:spPr>
      </p:pic>
      <p:sp>
        <p:nvSpPr>
          <p:cNvPr id="59" name="Text 56"/>
          <p:cNvSpPr/>
          <p:nvPr/>
        </p:nvSpPr>
        <p:spPr>
          <a:xfrm>
            <a:off x="9936480" y="3048000"/>
            <a:ext cx="536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Tipos de perfil</a:t>
            </a:r>
            <a:endParaRPr lang="en-US" sz="1867" dirty="0"/>
          </a:p>
        </p:txBody>
      </p:sp>
      <p:sp>
        <p:nvSpPr>
          <p:cNvPr id="60" name="Text 57"/>
          <p:cNvSpPr/>
          <p:nvPr/>
        </p:nvSpPr>
        <p:spPr>
          <a:xfrm>
            <a:off x="9387840" y="3621024"/>
            <a:ext cx="591312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Superadmin — acesso total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Escritório/Admin — gestão administrativa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Supervisor — aprovações e relatórios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Promotor — lançamentos de campo</a:t>
            </a:r>
            <a:endParaRPr lang="en-US" sz="1267" dirty="0"/>
          </a:p>
          <a:p>
            <a:pPr>
              <a:lnSpc>
                <a:spcPct val="110000"/>
              </a:lnSpc>
            </a:pPr>
            <a:r>
              <a:rPr lang="en-US" sz="12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Expedição — controle de saída</a:t>
            </a:r>
            <a:endParaRPr lang="en-US" sz="1267" dirty="0"/>
          </a:p>
        </p:txBody>
      </p:sp>
      <p:sp>
        <p:nvSpPr>
          <p:cNvPr id="61" name="Shape 58"/>
          <p:cNvSpPr/>
          <p:nvPr/>
        </p:nvSpPr>
        <p:spPr>
          <a:xfrm>
            <a:off x="9022080" y="4807712"/>
            <a:ext cx="6461760" cy="1723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Shape 59"/>
          <p:cNvSpPr/>
          <p:nvPr/>
        </p:nvSpPr>
        <p:spPr>
          <a:xfrm>
            <a:off x="9022080" y="4807712"/>
            <a:ext cx="646176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63" name="Shape 60"/>
          <p:cNvSpPr/>
          <p:nvPr/>
        </p:nvSpPr>
        <p:spPr>
          <a:xfrm>
            <a:off x="9265920" y="5027168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6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51264" y="5112512"/>
            <a:ext cx="316992" cy="316992"/>
          </a:xfrm>
          <a:prstGeom prst="rect">
            <a:avLst/>
          </a:prstGeom>
        </p:spPr>
      </p:pic>
      <p:sp>
        <p:nvSpPr>
          <p:cNvPr id="65" name="Text 61"/>
          <p:cNvSpPr/>
          <p:nvPr/>
        </p:nvSpPr>
        <p:spPr>
          <a:xfrm>
            <a:off x="9936480" y="4990592"/>
            <a:ext cx="536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do usuário</a:t>
            </a:r>
            <a:endParaRPr lang="en-US" sz="1867" dirty="0"/>
          </a:p>
        </p:txBody>
      </p:sp>
      <p:sp>
        <p:nvSpPr>
          <p:cNvPr id="66" name="Text 62"/>
          <p:cNvSpPr/>
          <p:nvPr/>
        </p:nvSpPr>
        <p:spPr>
          <a:xfrm>
            <a:off x="9387840" y="5563616"/>
            <a:ext cx="591312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● Ativo — acesso liberado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○ Pendente — aguardando ativação</a:t>
            </a:r>
            <a:endParaRPr lang="en-US" sz="1400" dirty="0"/>
          </a:p>
        </p:txBody>
      </p:sp>
      <p:sp>
        <p:nvSpPr>
          <p:cNvPr id="67" name="Shape 63"/>
          <p:cNvSpPr/>
          <p:nvPr/>
        </p:nvSpPr>
        <p:spPr>
          <a:xfrm>
            <a:off x="9022080" y="6750304"/>
            <a:ext cx="6461760" cy="172313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Shape 64"/>
          <p:cNvSpPr/>
          <p:nvPr/>
        </p:nvSpPr>
        <p:spPr>
          <a:xfrm>
            <a:off x="9022080" y="6750304"/>
            <a:ext cx="6461760" cy="73152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69" name="Shape 65"/>
          <p:cNvSpPr/>
          <p:nvPr/>
        </p:nvSpPr>
        <p:spPr>
          <a:xfrm>
            <a:off x="9265920" y="6969760"/>
            <a:ext cx="487680" cy="487680"/>
          </a:xfrm>
          <a:prstGeom prst="ellipse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pic>
        <p:nvPicPr>
          <p:cNvPr id="7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51264" y="7055104"/>
            <a:ext cx="316992" cy="316992"/>
          </a:xfrm>
          <a:prstGeom prst="rect">
            <a:avLst/>
          </a:prstGeom>
        </p:spPr>
      </p:pic>
      <p:sp>
        <p:nvSpPr>
          <p:cNvPr id="71" name="Text 66"/>
          <p:cNvSpPr/>
          <p:nvPr/>
        </p:nvSpPr>
        <p:spPr>
          <a:xfrm>
            <a:off x="9936480" y="6933184"/>
            <a:ext cx="5364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 e edição</a:t>
            </a:r>
            <a:endParaRPr lang="en-US" sz="1867" dirty="0"/>
          </a:p>
        </p:txBody>
      </p:sp>
      <p:sp>
        <p:nvSpPr>
          <p:cNvPr id="72" name="Text 67"/>
          <p:cNvSpPr/>
          <p:nvPr/>
        </p:nvSpPr>
        <p:spPr>
          <a:xfrm>
            <a:off x="9387840" y="7506208"/>
            <a:ext cx="5913120" cy="894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CLT = SIM — funcionário registrado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CLT = NÃO — autônomo / externo</a:t>
            </a:r>
            <a:endParaRPr lang="en-US" sz="1400" dirty="0"/>
          </a:p>
          <a:p>
            <a:pPr>
              <a:lnSpc>
                <a:spcPct val="125000"/>
              </a:lnSpc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Botão 'Editar' altera perfil, filial ou status</a:t>
            </a:r>
            <a:endParaRPr lang="en-US" sz="1400" dirty="0"/>
          </a:p>
        </p:txBody>
      </p:sp>
      <p:sp>
        <p:nvSpPr>
          <p:cNvPr id="73" name="Shape 68"/>
          <p:cNvSpPr/>
          <p:nvPr/>
        </p:nvSpPr>
        <p:spPr>
          <a:xfrm>
            <a:off x="0" y="9083040"/>
            <a:ext cx="16215360" cy="6096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74" name="Text 69"/>
          <p:cNvSpPr/>
          <p:nvPr/>
        </p:nvSpPr>
        <p:spPr>
          <a:xfrm>
            <a:off x="609600" y="86319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industria24h.com.br/consignado</a:t>
            </a:r>
            <a:endParaRPr lang="en-US" sz="1333" dirty="0"/>
          </a:p>
        </p:txBody>
      </p:sp>
      <p:sp>
        <p:nvSpPr>
          <p:cNvPr id="75" name="Text 70"/>
          <p:cNvSpPr/>
          <p:nvPr/>
        </p:nvSpPr>
        <p:spPr>
          <a:xfrm>
            <a:off x="14386560" y="863193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 / 20</a:t>
            </a:r>
            <a:endParaRPr lang="en-US" sz="1333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kern="0" spc="4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TELAS 07 + 08</a:t>
            </a:r>
            <a:endParaRPr lang="en-US" sz="1867" dirty="0"/>
          </a:p>
        </p:txBody>
      </p:sp>
      <p:sp>
        <p:nvSpPr>
          <p:cNvPr id="3" name="Text 1"/>
          <p:cNvSpPr/>
          <p:nvPr/>
        </p:nvSpPr>
        <p:spPr>
          <a:xfrm>
            <a:off x="609600" y="1036320"/>
            <a:ext cx="15240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&amp; Espelho Pagamento</a:t>
            </a:r>
            <a:endParaRPr lang="en-US" sz="4800" dirty="0"/>
          </a:p>
        </p:txBody>
      </p:sp>
      <p:sp>
        <p:nvSpPr>
          <p:cNvPr id="4" name="Text 2"/>
          <p:cNvSpPr/>
          <p:nvPr/>
        </p:nvSpPr>
        <p:spPr>
          <a:xfrm>
            <a:off x="609600" y="213360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Módulos em desenvolvimento — disponíveis em breve com dados completos.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926080"/>
            <a:ext cx="7132320" cy="554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2926080"/>
            <a:ext cx="7132320" cy="1584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31520" y="2926080"/>
            <a:ext cx="7132320" cy="1219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97280" y="3169920"/>
            <a:ext cx="121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4800" dirty="0"/>
          </a:p>
        </p:txBody>
      </p:sp>
      <p:sp>
        <p:nvSpPr>
          <p:cNvPr id="9" name="Shape 7"/>
          <p:cNvSpPr/>
          <p:nvPr/>
        </p:nvSpPr>
        <p:spPr>
          <a:xfrm>
            <a:off x="2438400" y="3474720"/>
            <a:ext cx="731520" cy="73152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4704" y="3621024"/>
            <a:ext cx="438912" cy="438912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3413760" y="3169920"/>
            <a:ext cx="426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</a:t>
            </a:r>
            <a:endParaRPr lang="en-US" sz="2933" dirty="0"/>
          </a:p>
        </p:txBody>
      </p:sp>
      <p:sp>
        <p:nvSpPr>
          <p:cNvPr id="12" name="Text 9"/>
          <p:cNvSpPr/>
          <p:nvPr/>
        </p:nvSpPr>
        <p:spPr>
          <a:xfrm>
            <a:off x="3413760" y="3718560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Visão geral de indicadores</a:t>
            </a:r>
            <a:endParaRPr lang="en-US" sz="1600" dirty="0"/>
          </a:p>
        </p:txBody>
      </p:sp>
      <p:sp>
        <p:nvSpPr>
          <p:cNvPr id="13" name="Shape 10"/>
          <p:cNvSpPr/>
          <p:nvPr/>
        </p:nvSpPr>
        <p:spPr>
          <a:xfrm>
            <a:off x="1219200" y="4815840"/>
            <a:ext cx="2926080" cy="487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219200" y="4815840"/>
            <a:ext cx="2926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kern="0" spc="267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EM ATUALIZAÇÃO</a:t>
            </a:r>
            <a:endParaRPr lang="en-US" sz="1467" dirty="0"/>
          </a:p>
        </p:txBody>
      </p:sp>
      <p:sp>
        <p:nvSpPr>
          <p:cNvPr id="15" name="Shape 12"/>
          <p:cNvSpPr/>
          <p:nvPr/>
        </p:nvSpPr>
        <p:spPr>
          <a:xfrm>
            <a:off x="1219200" y="5669280"/>
            <a:ext cx="487680" cy="48768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1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28928" y="5779008"/>
            <a:ext cx="268224" cy="268224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1889760" y="554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Vendas</a:t>
            </a:r>
            <a:endParaRPr lang="en-US" sz="1733" dirty="0"/>
          </a:p>
        </p:txBody>
      </p:sp>
      <p:sp>
        <p:nvSpPr>
          <p:cNvPr id="18" name="Text 14"/>
          <p:cNvSpPr/>
          <p:nvPr/>
        </p:nvSpPr>
        <p:spPr>
          <a:xfrm>
            <a:off x="1889760" y="591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do período</a:t>
            </a:r>
            <a:endParaRPr lang="en-US" sz="1467" dirty="0"/>
          </a:p>
        </p:txBody>
      </p:sp>
      <p:sp>
        <p:nvSpPr>
          <p:cNvPr id="19" name="Shape 15"/>
          <p:cNvSpPr/>
          <p:nvPr/>
        </p:nvSpPr>
        <p:spPr>
          <a:xfrm>
            <a:off x="1219200" y="6522720"/>
            <a:ext cx="487680" cy="48768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28928" y="6632448"/>
            <a:ext cx="268224" cy="268224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889760" y="6400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Lojas</a:t>
            </a:r>
            <a:endParaRPr lang="en-US" sz="1733" dirty="0"/>
          </a:p>
        </p:txBody>
      </p:sp>
      <p:sp>
        <p:nvSpPr>
          <p:cNvPr id="22" name="Text 17"/>
          <p:cNvSpPr/>
          <p:nvPr/>
        </p:nvSpPr>
        <p:spPr>
          <a:xfrm>
            <a:off x="1889760" y="6766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PDVs atendidos</a:t>
            </a:r>
            <a:endParaRPr lang="en-US" sz="1467" dirty="0"/>
          </a:p>
        </p:txBody>
      </p:sp>
      <p:sp>
        <p:nvSpPr>
          <p:cNvPr id="23" name="Shape 18"/>
          <p:cNvSpPr/>
          <p:nvPr/>
        </p:nvSpPr>
        <p:spPr>
          <a:xfrm>
            <a:off x="1219200" y="7376160"/>
            <a:ext cx="487680" cy="48768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328928" y="7485888"/>
            <a:ext cx="268224" cy="268224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889760" y="7254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Promotores</a:t>
            </a:r>
            <a:endParaRPr lang="en-US" sz="1733" dirty="0"/>
          </a:p>
        </p:txBody>
      </p:sp>
      <p:sp>
        <p:nvSpPr>
          <p:cNvPr id="26" name="Text 20"/>
          <p:cNvSpPr/>
          <p:nvPr/>
        </p:nvSpPr>
        <p:spPr>
          <a:xfrm>
            <a:off x="1889760" y="7620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individual</a:t>
            </a:r>
            <a:endParaRPr lang="en-US" sz="1467" dirty="0"/>
          </a:p>
        </p:txBody>
      </p:sp>
      <p:sp>
        <p:nvSpPr>
          <p:cNvPr id="27" name="Shape 21"/>
          <p:cNvSpPr/>
          <p:nvPr/>
        </p:nvSpPr>
        <p:spPr>
          <a:xfrm>
            <a:off x="8351520" y="2926080"/>
            <a:ext cx="7132320" cy="5547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52400" dist="38100" dir="54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8351520" y="2926080"/>
            <a:ext cx="7132320" cy="1584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9" name="Shape 23"/>
          <p:cNvSpPr/>
          <p:nvPr/>
        </p:nvSpPr>
        <p:spPr>
          <a:xfrm>
            <a:off x="8351520" y="2926080"/>
            <a:ext cx="7132320" cy="12192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717280" y="3169920"/>
            <a:ext cx="1219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800" b="1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4800" dirty="0"/>
          </a:p>
        </p:txBody>
      </p:sp>
      <p:sp>
        <p:nvSpPr>
          <p:cNvPr id="31" name="Shape 25"/>
          <p:cNvSpPr/>
          <p:nvPr/>
        </p:nvSpPr>
        <p:spPr>
          <a:xfrm>
            <a:off x="10058400" y="3474720"/>
            <a:ext cx="731520" cy="731520"/>
          </a:xfrm>
          <a:prstGeom prst="ellipse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pic>
        <p:nvPicPr>
          <p:cNvPr id="32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04704" y="3621024"/>
            <a:ext cx="438912" cy="438912"/>
          </a:xfrm>
          <a:prstGeom prst="rect">
            <a:avLst/>
          </a:prstGeom>
        </p:spPr>
      </p:pic>
      <p:sp>
        <p:nvSpPr>
          <p:cNvPr id="33" name="Text 26"/>
          <p:cNvSpPr/>
          <p:nvPr/>
        </p:nvSpPr>
        <p:spPr>
          <a:xfrm>
            <a:off x="11033760" y="3169920"/>
            <a:ext cx="42672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Espelho Pagamento</a:t>
            </a:r>
            <a:endParaRPr lang="en-US" sz="2933" dirty="0"/>
          </a:p>
        </p:txBody>
      </p:sp>
      <p:sp>
        <p:nvSpPr>
          <p:cNvPr id="34" name="Text 27"/>
          <p:cNvSpPr/>
          <p:nvPr/>
        </p:nvSpPr>
        <p:spPr>
          <a:xfrm>
            <a:off x="11033760" y="3718560"/>
            <a:ext cx="4267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i="1" dirty="0">
                <a:solidFill>
                  <a:srgbClr val="EEF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financeiro e comissões</a:t>
            </a:r>
            <a:endParaRPr lang="en-US" sz="1600" dirty="0"/>
          </a:p>
        </p:txBody>
      </p:sp>
      <p:sp>
        <p:nvSpPr>
          <p:cNvPr id="35" name="Shape 28"/>
          <p:cNvSpPr/>
          <p:nvPr/>
        </p:nvSpPr>
        <p:spPr>
          <a:xfrm>
            <a:off x="8839200" y="4815840"/>
            <a:ext cx="2926080" cy="487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36" name="Text 29"/>
          <p:cNvSpPr/>
          <p:nvPr/>
        </p:nvSpPr>
        <p:spPr>
          <a:xfrm>
            <a:off x="8839200" y="4815840"/>
            <a:ext cx="29260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67" b="1" kern="0" spc="267" dirty="0">
                <a:solidFill>
                  <a:srgbClr val="F57F1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 EM ATUALIZAÇÃO</a:t>
            </a:r>
            <a:endParaRPr lang="en-US" sz="1467" dirty="0"/>
          </a:p>
        </p:txBody>
      </p:sp>
      <p:sp>
        <p:nvSpPr>
          <p:cNvPr id="37" name="Shape 30"/>
          <p:cNvSpPr/>
          <p:nvPr/>
        </p:nvSpPr>
        <p:spPr>
          <a:xfrm>
            <a:off x="8839200" y="5669280"/>
            <a:ext cx="487680" cy="48768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38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48928" y="5779008"/>
            <a:ext cx="268224" cy="268224"/>
          </a:xfrm>
          <a:prstGeom prst="rect">
            <a:avLst/>
          </a:prstGeom>
        </p:spPr>
      </p:pic>
      <p:sp>
        <p:nvSpPr>
          <p:cNvPr id="39" name="Text 31"/>
          <p:cNvSpPr/>
          <p:nvPr/>
        </p:nvSpPr>
        <p:spPr>
          <a:xfrm>
            <a:off x="9509760" y="55473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Pagamentos</a:t>
            </a:r>
            <a:endParaRPr lang="en-US" sz="1733" dirty="0"/>
          </a:p>
        </p:txBody>
      </p:sp>
      <p:sp>
        <p:nvSpPr>
          <p:cNvPr id="40" name="Text 32"/>
          <p:cNvSpPr/>
          <p:nvPr/>
        </p:nvSpPr>
        <p:spPr>
          <a:xfrm>
            <a:off x="9509760" y="59131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Comissões e salários</a:t>
            </a:r>
            <a:endParaRPr lang="en-US" sz="1467" dirty="0"/>
          </a:p>
        </p:txBody>
      </p:sp>
      <p:sp>
        <p:nvSpPr>
          <p:cNvPr id="41" name="Shape 33"/>
          <p:cNvSpPr/>
          <p:nvPr/>
        </p:nvSpPr>
        <p:spPr>
          <a:xfrm>
            <a:off x="8839200" y="6522720"/>
            <a:ext cx="487680" cy="48768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42" name="Image 6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948928" y="6632448"/>
            <a:ext cx="268224" cy="268224"/>
          </a:xfrm>
          <a:prstGeom prst="rect">
            <a:avLst/>
          </a:prstGeom>
        </p:spPr>
      </p:pic>
      <p:sp>
        <p:nvSpPr>
          <p:cNvPr id="43" name="Text 34"/>
          <p:cNvSpPr/>
          <p:nvPr/>
        </p:nvSpPr>
        <p:spPr>
          <a:xfrm>
            <a:off x="9509760" y="64008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</a:t>
            </a:r>
            <a:endParaRPr lang="en-US" sz="1733" dirty="0"/>
          </a:p>
        </p:txBody>
      </p:sp>
      <p:sp>
        <p:nvSpPr>
          <p:cNvPr id="44" name="Text 35"/>
          <p:cNvSpPr/>
          <p:nvPr/>
        </p:nvSpPr>
        <p:spPr>
          <a:xfrm>
            <a:off x="9509760" y="67665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Espelho financeiro</a:t>
            </a:r>
            <a:endParaRPr lang="en-US" sz="1467" dirty="0"/>
          </a:p>
        </p:txBody>
      </p:sp>
      <p:sp>
        <p:nvSpPr>
          <p:cNvPr id="45" name="Shape 36"/>
          <p:cNvSpPr/>
          <p:nvPr/>
        </p:nvSpPr>
        <p:spPr>
          <a:xfrm>
            <a:off x="8839200" y="7376160"/>
            <a:ext cx="487680" cy="487680"/>
          </a:xfrm>
          <a:prstGeom prst="ellipse">
            <a:avLst/>
          </a:prstGeom>
          <a:solidFill>
            <a:srgbClr val="EEF2FF"/>
          </a:solidFill>
          <a:ln w="12700">
            <a:solidFill>
              <a:srgbClr val="EEF2FF"/>
            </a:solidFill>
            <a:prstDash val="solid"/>
          </a:ln>
        </p:spPr>
      </p:sp>
      <p:pic>
        <p:nvPicPr>
          <p:cNvPr id="46" name="Image 7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948928" y="7485888"/>
            <a:ext cx="268224" cy="268224"/>
          </a:xfrm>
          <a:prstGeom prst="rect">
            <a:avLst/>
          </a:prstGeom>
        </p:spPr>
      </p:pic>
      <p:sp>
        <p:nvSpPr>
          <p:cNvPr id="47" name="Text 37"/>
          <p:cNvSpPr/>
          <p:nvPr/>
        </p:nvSpPr>
        <p:spPr>
          <a:xfrm>
            <a:off x="9509760" y="725424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7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Conferência</a:t>
            </a:r>
            <a:endParaRPr lang="en-US" sz="1733" dirty="0"/>
          </a:p>
        </p:txBody>
      </p:sp>
      <p:sp>
        <p:nvSpPr>
          <p:cNvPr id="48" name="Text 38"/>
          <p:cNvSpPr/>
          <p:nvPr/>
        </p:nvSpPr>
        <p:spPr>
          <a:xfrm>
            <a:off x="9509760" y="7620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Auditoria e fechamento</a:t>
            </a:r>
            <a:endParaRPr lang="en-US" sz="1467" dirty="0"/>
          </a:p>
        </p:txBody>
      </p:sp>
      <p:sp>
        <p:nvSpPr>
          <p:cNvPr id="49" name="Shape 39"/>
          <p:cNvSpPr/>
          <p:nvPr/>
        </p:nvSpPr>
        <p:spPr>
          <a:xfrm>
            <a:off x="0" y="9083040"/>
            <a:ext cx="16215360" cy="6096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50" name="Text 40"/>
          <p:cNvSpPr/>
          <p:nvPr/>
        </p:nvSpPr>
        <p:spPr>
          <a:xfrm>
            <a:off x="609600" y="86319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industria24h.com.br/consignado</a:t>
            </a:r>
            <a:endParaRPr lang="en-US" sz="1333" dirty="0"/>
          </a:p>
        </p:txBody>
      </p:sp>
      <p:sp>
        <p:nvSpPr>
          <p:cNvPr id="51" name="Text 41"/>
          <p:cNvSpPr/>
          <p:nvPr/>
        </p:nvSpPr>
        <p:spPr>
          <a:xfrm>
            <a:off x="14386560" y="863193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 / 20</a:t>
            </a:r>
            <a:endParaRPr lang="en-US" sz="1333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487680"/>
            <a:ext cx="36576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kern="0" spc="4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REFERÊNCIA</a:t>
            </a:r>
            <a:endParaRPr lang="en-US" sz="1867" dirty="0"/>
          </a:p>
        </p:txBody>
      </p:sp>
      <p:sp>
        <p:nvSpPr>
          <p:cNvPr id="3" name="Text 1"/>
          <p:cNvSpPr/>
          <p:nvPr/>
        </p:nvSpPr>
        <p:spPr>
          <a:xfrm>
            <a:off x="609600" y="1036320"/>
            <a:ext cx="14630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5333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Glossário</a:t>
            </a:r>
            <a:endParaRPr lang="en-US" sz="5333" dirty="0"/>
          </a:p>
        </p:txBody>
      </p:sp>
      <p:sp>
        <p:nvSpPr>
          <p:cNvPr id="4" name="Text 2"/>
          <p:cNvSpPr/>
          <p:nvPr/>
        </p:nvSpPr>
        <p:spPr>
          <a:xfrm>
            <a:off x="609600" y="2133600"/>
            <a:ext cx="146304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0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10 termos mais usados no Sistema Consignado — referência rápida.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731520" y="2804160"/>
            <a:ext cx="73152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2804160"/>
            <a:ext cx="97536" cy="9509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36320" y="2804160"/>
            <a:ext cx="2255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CISS</a:t>
            </a:r>
            <a:endParaRPr lang="en-US" sz="1867" dirty="0"/>
          </a:p>
        </p:txBody>
      </p:sp>
      <p:sp>
        <p:nvSpPr>
          <p:cNvPr id="8" name="Text 6"/>
          <p:cNvSpPr/>
          <p:nvPr/>
        </p:nvSpPr>
        <p:spPr>
          <a:xfrm>
            <a:off x="3352800" y="2804160"/>
            <a:ext cx="4450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identificador único de cada loja/PDV no sistema.</a:t>
            </a:r>
            <a:endParaRPr lang="en-US" sz="1467" dirty="0"/>
          </a:p>
        </p:txBody>
      </p:sp>
      <p:sp>
        <p:nvSpPr>
          <p:cNvPr id="9" name="Shape 7"/>
          <p:cNvSpPr/>
          <p:nvPr/>
        </p:nvSpPr>
        <p:spPr>
          <a:xfrm>
            <a:off x="8412480" y="2804160"/>
            <a:ext cx="73152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412480" y="2804160"/>
            <a:ext cx="97536" cy="9509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17280" y="2804160"/>
            <a:ext cx="2255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PDV</a:t>
            </a:r>
            <a:endParaRPr lang="en-US" sz="1867" dirty="0"/>
          </a:p>
        </p:txBody>
      </p:sp>
      <p:sp>
        <p:nvSpPr>
          <p:cNvPr id="12" name="Text 10"/>
          <p:cNvSpPr/>
          <p:nvPr/>
        </p:nvSpPr>
        <p:spPr>
          <a:xfrm>
            <a:off x="11033760" y="2804160"/>
            <a:ext cx="4450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Ponto de Venda — loja ou supermercado atendido pelos promotores.</a:t>
            </a:r>
            <a:endParaRPr lang="en-US" sz="1467" dirty="0"/>
          </a:p>
        </p:txBody>
      </p:sp>
      <p:sp>
        <p:nvSpPr>
          <p:cNvPr id="13" name="Shape 11"/>
          <p:cNvSpPr/>
          <p:nvPr/>
        </p:nvSpPr>
        <p:spPr>
          <a:xfrm>
            <a:off x="731520" y="3901440"/>
            <a:ext cx="73152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31520" y="3901440"/>
            <a:ext cx="97536" cy="9509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36320" y="3901440"/>
            <a:ext cx="2255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Promotor</a:t>
            </a:r>
            <a:endParaRPr lang="en-US" sz="1867" dirty="0"/>
          </a:p>
        </p:txBody>
      </p:sp>
      <p:sp>
        <p:nvSpPr>
          <p:cNvPr id="16" name="Text 14"/>
          <p:cNvSpPr/>
          <p:nvPr/>
        </p:nvSpPr>
        <p:spPr>
          <a:xfrm>
            <a:off x="3352800" y="3901440"/>
            <a:ext cx="4450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Profissional de campo responsável por visitar e abastecer os PDVs.</a:t>
            </a:r>
            <a:endParaRPr lang="en-US" sz="1467" dirty="0"/>
          </a:p>
        </p:txBody>
      </p:sp>
      <p:sp>
        <p:nvSpPr>
          <p:cNvPr id="17" name="Shape 15"/>
          <p:cNvSpPr/>
          <p:nvPr/>
        </p:nvSpPr>
        <p:spPr>
          <a:xfrm>
            <a:off x="8412480" y="3901440"/>
            <a:ext cx="73152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412480" y="3901440"/>
            <a:ext cx="97536" cy="9509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17280" y="3901440"/>
            <a:ext cx="2255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Avaria</a:t>
            </a:r>
            <a:endParaRPr lang="en-US" sz="1867" dirty="0"/>
          </a:p>
        </p:txBody>
      </p:sp>
      <p:sp>
        <p:nvSpPr>
          <p:cNvPr id="20" name="Text 18"/>
          <p:cNvSpPr/>
          <p:nvPr/>
        </p:nvSpPr>
        <p:spPr>
          <a:xfrm>
            <a:off x="11033760" y="3901440"/>
            <a:ext cx="4450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Produto com danos ou vencimento, registrado para controle de perdas.</a:t>
            </a:r>
            <a:endParaRPr lang="en-US" sz="1467" dirty="0"/>
          </a:p>
        </p:txBody>
      </p:sp>
      <p:sp>
        <p:nvSpPr>
          <p:cNvPr id="21" name="Shape 19"/>
          <p:cNvSpPr/>
          <p:nvPr/>
        </p:nvSpPr>
        <p:spPr>
          <a:xfrm>
            <a:off x="731520" y="4998720"/>
            <a:ext cx="73152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1520" y="4998720"/>
            <a:ext cx="97536" cy="9509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36320" y="4998720"/>
            <a:ext cx="2255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Consignado</a:t>
            </a:r>
            <a:endParaRPr lang="en-US" sz="1867" dirty="0"/>
          </a:p>
        </p:txBody>
      </p:sp>
      <p:sp>
        <p:nvSpPr>
          <p:cNvPr id="24" name="Text 22"/>
          <p:cNvSpPr/>
          <p:nvPr/>
        </p:nvSpPr>
        <p:spPr>
          <a:xfrm>
            <a:off x="3352800" y="4998720"/>
            <a:ext cx="4450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onde o produto vai à loja e o pagamento ocorre após a venda.</a:t>
            </a:r>
            <a:endParaRPr lang="en-US" sz="1467" dirty="0"/>
          </a:p>
        </p:txBody>
      </p:sp>
      <p:sp>
        <p:nvSpPr>
          <p:cNvPr id="25" name="Shape 23"/>
          <p:cNvSpPr/>
          <p:nvPr/>
        </p:nvSpPr>
        <p:spPr>
          <a:xfrm>
            <a:off x="8412480" y="4998720"/>
            <a:ext cx="73152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8412480" y="4998720"/>
            <a:ext cx="97536" cy="9509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717280" y="4998720"/>
            <a:ext cx="2255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Transferência avulsa</a:t>
            </a:r>
            <a:endParaRPr lang="en-US" sz="1867" dirty="0"/>
          </a:p>
        </p:txBody>
      </p:sp>
      <p:sp>
        <p:nvSpPr>
          <p:cNvPr id="28" name="Text 26"/>
          <p:cNvSpPr/>
          <p:nvPr/>
        </p:nvSpPr>
        <p:spPr>
          <a:xfrm>
            <a:off x="11033760" y="4998720"/>
            <a:ext cx="4450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Movimentação de estoque fora do ciclo normal de pedidos.</a:t>
            </a:r>
            <a:endParaRPr lang="en-US" sz="1467" dirty="0"/>
          </a:p>
        </p:txBody>
      </p:sp>
      <p:sp>
        <p:nvSpPr>
          <p:cNvPr id="29" name="Shape 27"/>
          <p:cNvSpPr/>
          <p:nvPr/>
        </p:nvSpPr>
        <p:spPr>
          <a:xfrm>
            <a:off x="731520" y="6096000"/>
            <a:ext cx="73152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31520" y="6096000"/>
            <a:ext cx="97536" cy="9509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36320" y="6096000"/>
            <a:ext cx="2255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Espelho Pagamento</a:t>
            </a:r>
            <a:endParaRPr lang="en-US" sz="1867" dirty="0"/>
          </a:p>
        </p:txBody>
      </p:sp>
      <p:sp>
        <p:nvSpPr>
          <p:cNvPr id="32" name="Text 30"/>
          <p:cNvSpPr/>
          <p:nvPr/>
        </p:nvSpPr>
        <p:spPr>
          <a:xfrm>
            <a:off x="3352800" y="6096000"/>
            <a:ext cx="4450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Relatório que espelha comissões, salários e pagamentos dos promotores.</a:t>
            </a:r>
            <a:endParaRPr lang="en-US" sz="1467" dirty="0"/>
          </a:p>
        </p:txBody>
      </p:sp>
      <p:sp>
        <p:nvSpPr>
          <p:cNvPr id="33" name="Shape 31"/>
          <p:cNvSpPr/>
          <p:nvPr/>
        </p:nvSpPr>
        <p:spPr>
          <a:xfrm>
            <a:off x="8412480" y="6096000"/>
            <a:ext cx="73152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412480" y="6096000"/>
            <a:ext cx="97536" cy="9509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8717280" y="6096000"/>
            <a:ext cx="2255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Superadmin</a:t>
            </a:r>
            <a:endParaRPr lang="en-US" sz="1867" dirty="0"/>
          </a:p>
        </p:txBody>
      </p:sp>
      <p:sp>
        <p:nvSpPr>
          <p:cNvPr id="36" name="Text 34"/>
          <p:cNvSpPr/>
          <p:nvPr/>
        </p:nvSpPr>
        <p:spPr>
          <a:xfrm>
            <a:off x="11033760" y="6096000"/>
            <a:ext cx="4450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Perfil com acesso total a todas as funcionalidades do sistema.</a:t>
            </a:r>
            <a:endParaRPr lang="en-US" sz="1467" dirty="0"/>
          </a:p>
        </p:txBody>
      </p:sp>
      <p:sp>
        <p:nvSpPr>
          <p:cNvPr id="37" name="Shape 35"/>
          <p:cNvSpPr/>
          <p:nvPr/>
        </p:nvSpPr>
        <p:spPr>
          <a:xfrm>
            <a:off x="731520" y="7193280"/>
            <a:ext cx="73152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731520" y="7193280"/>
            <a:ext cx="97536" cy="9509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036320" y="7193280"/>
            <a:ext cx="2255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CLT</a:t>
            </a:r>
            <a:endParaRPr lang="en-US" sz="1867" dirty="0"/>
          </a:p>
        </p:txBody>
      </p:sp>
      <p:sp>
        <p:nvSpPr>
          <p:cNvPr id="40" name="Text 38"/>
          <p:cNvSpPr/>
          <p:nvPr/>
        </p:nvSpPr>
        <p:spPr>
          <a:xfrm>
            <a:off x="3352800" y="7193280"/>
            <a:ext cx="4450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Vínculo empregatício formal (Consolidação das Leis do Trabalho).</a:t>
            </a:r>
            <a:endParaRPr lang="en-US" sz="1467" dirty="0"/>
          </a:p>
        </p:txBody>
      </p:sp>
      <p:sp>
        <p:nvSpPr>
          <p:cNvPr id="41" name="Shape 39"/>
          <p:cNvSpPr/>
          <p:nvPr/>
        </p:nvSpPr>
        <p:spPr>
          <a:xfrm>
            <a:off x="8412480" y="7193280"/>
            <a:ext cx="7315200" cy="950976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412480" y="7193280"/>
            <a:ext cx="97536" cy="950976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8717280" y="7193280"/>
            <a:ext cx="2255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Oferta</a:t>
            </a:r>
            <a:endParaRPr lang="en-US" sz="1867" dirty="0"/>
          </a:p>
        </p:txBody>
      </p:sp>
      <p:sp>
        <p:nvSpPr>
          <p:cNvPr id="44" name="Text 42"/>
          <p:cNvSpPr/>
          <p:nvPr/>
        </p:nvSpPr>
        <p:spPr>
          <a:xfrm>
            <a:off x="11033760" y="7193280"/>
            <a:ext cx="445008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20000"/>
              </a:lnSpc>
            </a:pPr>
            <a:r>
              <a:rPr lang="en-US" sz="1467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Promoção com condições especiais de preço ou quantidade por produto.</a:t>
            </a:r>
            <a:endParaRPr lang="en-US" sz="1467" dirty="0"/>
          </a:p>
        </p:txBody>
      </p:sp>
      <p:sp>
        <p:nvSpPr>
          <p:cNvPr id="45" name="Shape 43"/>
          <p:cNvSpPr/>
          <p:nvPr/>
        </p:nvSpPr>
        <p:spPr>
          <a:xfrm>
            <a:off x="0" y="9083040"/>
            <a:ext cx="16215360" cy="6096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09600" y="86319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industria24h.com.br/consignado</a:t>
            </a:r>
            <a:endParaRPr lang="en-US" sz="1333" dirty="0"/>
          </a:p>
        </p:txBody>
      </p:sp>
      <p:sp>
        <p:nvSpPr>
          <p:cNvPr id="47" name="Text 45"/>
          <p:cNvSpPr/>
          <p:nvPr/>
        </p:nvSpPr>
        <p:spPr>
          <a:xfrm>
            <a:off x="14386560" y="863193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 / 20</a:t>
            </a:r>
            <a:endParaRPr lang="en-US" sz="1333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18448" y="0"/>
            <a:ext cx="7296912" cy="914400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918448" y="0"/>
            <a:ext cx="121920" cy="9144000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75360" y="1950720"/>
            <a:ext cx="487680" cy="73152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645920" y="1706880"/>
            <a:ext cx="731520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b="1" kern="0" spc="533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PRONTO PARA COMEÇAR</a:t>
            </a:r>
            <a:endParaRPr lang="en-US" sz="1867" dirty="0"/>
          </a:p>
        </p:txBody>
      </p:sp>
      <p:sp>
        <p:nvSpPr>
          <p:cNvPr id="6" name="Text 4"/>
          <p:cNvSpPr/>
          <p:nvPr/>
        </p:nvSpPr>
        <p:spPr>
          <a:xfrm>
            <a:off x="975360" y="2377440"/>
            <a:ext cx="8534400" cy="426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92000"/>
              </a:lnSpc>
            </a:pPr>
            <a:r>
              <a:rPr lang="en-US" sz="13333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Vamos</a:t>
            </a:r>
            <a:endParaRPr lang="en-US" sz="13333" dirty="0"/>
          </a:p>
          <a:p>
            <a:pPr>
              <a:lnSpc>
                <a:spcPct val="92000"/>
              </a:lnSpc>
            </a:pPr>
            <a:r>
              <a:rPr lang="en-US" sz="13333" b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começar?</a:t>
            </a:r>
            <a:endParaRPr lang="en-US" sz="13333" dirty="0"/>
          </a:p>
        </p:txBody>
      </p:sp>
      <p:sp>
        <p:nvSpPr>
          <p:cNvPr id="7" name="Text 5"/>
          <p:cNvSpPr/>
          <p:nvPr/>
        </p:nvSpPr>
        <p:spPr>
          <a:xfrm>
            <a:off x="975360" y="6827520"/>
            <a:ext cx="7924800" cy="1341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2267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Ative a Plataforma Consignado na sua rede e ganhe controle total da operação em poucas semanas.</a:t>
            </a:r>
            <a:endParaRPr lang="en-US" sz="2267" dirty="0"/>
          </a:p>
        </p:txBody>
      </p:sp>
      <p:sp>
        <p:nvSpPr>
          <p:cNvPr id="8" name="Text 6"/>
          <p:cNvSpPr/>
          <p:nvPr/>
        </p:nvSpPr>
        <p:spPr>
          <a:xfrm>
            <a:off x="9570720" y="1706880"/>
            <a:ext cx="59740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533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ACESSE</a:t>
            </a:r>
            <a:endParaRPr lang="en-US" sz="16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70720" y="2255520"/>
            <a:ext cx="487680" cy="48768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0241280" y="2194560"/>
            <a:ext cx="5242560" cy="670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933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industria24h.com.br</a:t>
            </a:r>
            <a:endParaRPr lang="en-US" sz="2933" dirty="0"/>
          </a:p>
        </p:txBody>
      </p:sp>
      <p:sp>
        <p:nvSpPr>
          <p:cNvPr id="11" name="Text 8"/>
          <p:cNvSpPr/>
          <p:nvPr/>
        </p:nvSpPr>
        <p:spPr>
          <a:xfrm>
            <a:off x="10241280" y="2865120"/>
            <a:ext cx="524256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400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/consignado</a:t>
            </a:r>
            <a:endParaRPr lang="en-US" sz="2400" dirty="0"/>
          </a:p>
        </p:txBody>
      </p:sp>
      <p:sp>
        <p:nvSpPr>
          <p:cNvPr id="12" name="Shape 9"/>
          <p:cNvSpPr/>
          <p:nvPr/>
        </p:nvSpPr>
        <p:spPr>
          <a:xfrm>
            <a:off x="9570720" y="3657600"/>
            <a:ext cx="1219200" cy="48768"/>
          </a:xfrm>
          <a:prstGeom prst="rect">
            <a:avLst/>
          </a:prstGeom>
          <a:solidFill>
            <a:srgbClr val="FFC107"/>
          </a:solidFill>
          <a:ln w="12700">
            <a:solidFill>
              <a:srgbClr val="FFC107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570720" y="3962400"/>
            <a:ext cx="5974080" cy="426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600" b="1" kern="0" spc="533" dirty="0">
                <a:solidFill>
                  <a:srgbClr val="FFC10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 PASSO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9570720" y="4511040"/>
            <a:ext cx="597408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5000"/>
              </a:lnSpc>
            </a:pPr>
            <a:r>
              <a:rPr lang="en-US" sz="2133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em contato para ativar a sua rede no piloto.</a:t>
            </a:r>
            <a:endParaRPr lang="en-US" sz="2133" dirty="0"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0720" y="6035040"/>
            <a:ext cx="365760" cy="365760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0119360" y="5974080"/>
            <a:ext cx="5364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dos PDVs</a:t>
            </a:r>
            <a:endParaRPr lang="en-US" sz="1867" dirty="0"/>
          </a:p>
        </p:txBody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0720" y="6644640"/>
            <a:ext cx="365760" cy="36576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119360" y="6583680"/>
            <a:ext cx="5364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dos promotores</a:t>
            </a:r>
            <a:endParaRPr lang="en-US" sz="1867" dirty="0"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70720" y="7254240"/>
            <a:ext cx="365760" cy="36576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0119360" y="7193280"/>
            <a:ext cx="5364480" cy="487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867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Treinamento + suporte</a:t>
            </a:r>
            <a:endParaRPr lang="en-US" sz="1867" dirty="0"/>
          </a:p>
        </p:txBody>
      </p:sp>
      <p:sp>
        <p:nvSpPr>
          <p:cNvPr id="21" name="Shape 15"/>
          <p:cNvSpPr/>
          <p:nvPr/>
        </p:nvSpPr>
        <p:spPr>
          <a:xfrm>
            <a:off x="0" y="9083040"/>
            <a:ext cx="16215360" cy="60960"/>
          </a:xfrm>
          <a:prstGeom prst="rect">
            <a:avLst/>
          </a:prstGeom>
          <a:solidFill>
            <a:srgbClr val="1A237E"/>
          </a:solidFill>
          <a:ln w="12700">
            <a:solidFill>
              <a:srgbClr val="1A237E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975360" y="8631936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i="1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Plataforma Consignado  •  Industria24h</a:t>
            </a:r>
            <a:endParaRPr lang="en-US" sz="1333" dirty="0"/>
          </a:p>
        </p:txBody>
      </p:sp>
      <p:sp>
        <p:nvSpPr>
          <p:cNvPr id="23" name="Text 17"/>
          <p:cNvSpPr/>
          <p:nvPr/>
        </p:nvSpPr>
        <p:spPr>
          <a:xfrm>
            <a:off x="14386560" y="8631936"/>
            <a:ext cx="121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1333" dirty="0">
                <a:solidFill>
                  <a:srgbClr val="1A23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/ 20</a:t>
            </a:r>
            <a:endParaRPr lang="en-US" sz="133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1948</Words>
  <Application>Microsoft Office PowerPoint</Application>
  <PresentationFormat>Personalizar</PresentationFormat>
  <Paragraphs>521</Paragraphs>
  <Slides>28</Slides>
  <Notes>15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cp:lastModifiedBy>Andreia schneider</cp:lastModifiedBy>
  <cp:revision>3</cp:revision>
  <dcterms:created xsi:type="dcterms:W3CDTF">2006-08-16T00:00:00Z</dcterms:created>
  <dcterms:modified xsi:type="dcterms:W3CDTF">2026-05-08T19:23:33Z</dcterms:modified>
</cp:coreProperties>
</file>